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6c75911d140bc" /><Relationship Type="http://schemas.openxmlformats.org/officeDocument/2006/relationships/extended-properties" Target="/docProps/app.xml" Id="R7d7a214b0a1c4137" /><Relationship Type="http://schemas.openxmlformats.org/officeDocument/2006/relationships/officeDocument" Target="/ppt/presentation.xml" Id="R351f71e8ca11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f7d2cf17e46e2"/>
  </p:sldMasterIdLst>
  <p:notesMasterIdLst>
    <p:notesMasterId xmlns:r="http://schemas.openxmlformats.org/officeDocument/2006/relationships" r:id="R1149ee9737324070"/>
  </p:notesMasterIdLst>
  <p:sldIdLst>
    <p:sldId xmlns:r="http://schemas.openxmlformats.org/officeDocument/2006/relationships" id="256" r:id="Rf8365b696a9d414a"/>
    <p:sldId xmlns:r="http://schemas.openxmlformats.org/officeDocument/2006/relationships" id="257" r:id="Rfed3dda5f5364057"/>
    <p:sldId xmlns:r="http://schemas.openxmlformats.org/officeDocument/2006/relationships" id="258" r:id="R511b2ff934bb4435"/>
    <p:sldId xmlns:r="http://schemas.openxmlformats.org/officeDocument/2006/relationships" id="259" r:id="Ra42ef49d75a24249"/>
    <p:sldId xmlns:r="http://schemas.openxmlformats.org/officeDocument/2006/relationships" id="260" r:id="R81f4675cf8604037"/>
    <p:sldId xmlns:r="http://schemas.openxmlformats.org/officeDocument/2006/relationships" id="261" r:id="R481f24061b4046b1"/>
    <p:sldId xmlns:r="http://schemas.openxmlformats.org/officeDocument/2006/relationships" id="262" r:id="R37cfea5b3c7a4769"/>
    <p:sldId xmlns:r="http://schemas.openxmlformats.org/officeDocument/2006/relationships" id="263" r:id="R086389aed2d74f07"/>
    <p:sldId xmlns:r="http://schemas.openxmlformats.org/officeDocument/2006/relationships" id="264" r:id="Rb7eb0ee7072d48dc"/>
    <p:sldId xmlns:r="http://schemas.openxmlformats.org/officeDocument/2006/relationships" id="265" r:id="R98f7ee958cd64460"/>
    <p:sldId xmlns:r="http://schemas.openxmlformats.org/officeDocument/2006/relationships" id="266" r:id="Ra12ac90153254d9a"/>
    <p:sldId xmlns:r="http://schemas.openxmlformats.org/officeDocument/2006/relationships" id="267" r:id="R0d6bd8d0145a4ff4"/>
    <p:sldId xmlns:r="http://schemas.openxmlformats.org/officeDocument/2006/relationships" id="268" r:id="R1f25feda54b443fb"/>
    <p:sldId xmlns:r="http://schemas.openxmlformats.org/officeDocument/2006/relationships" id="269" r:id="R706564792bca440b"/>
    <p:sldId xmlns:r="http://schemas.openxmlformats.org/officeDocument/2006/relationships" id="270" r:id="R5d6cf4111742442b"/>
    <p:sldId xmlns:r="http://schemas.openxmlformats.org/officeDocument/2006/relationships" id="271" r:id="Rb7654227f0664494"/>
    <p:sldId xmlns:r="http://schemas.openxmlformats.org/officeDocument/2006/relationships" id="272" r:id="R2095514820f444b1"/>
    <p:sldId xmlns:r="http://schemas.openxmlformats.org/officeDocument/2006/relationships" id="273" r:id="R427d4022a357476e"/>
    <p:sldId xmlns:r="http://schemas.openxmlformats.org/officeDocument/2006/relationships" id="274" r:id="Rd7ec8db3eea749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b2a72882f419f" /><Relationship Type="http://schemas.openxmlformats.org/officeDocument/2006/relationships/slideMaster" Target="/ppt/slideMasters/slideMaster1.xml" Id="R9abf7d2cf17e46e2" /><Relationship Type="http://schemas.openxmlformats.org/officeDocument/2006/relationships/notesMaster" Target="/ppt/notesMasters/notesMaster1.xml" Id="R1149ee9737324070" /><Relationship Type="http://schemas.openxmlformats.org/officeDocument/2006/relationships/presProps" Target="/ppt/presProps.xml" Id="R941042c5fa8245c8" /><Relationship Type="http://schemas.openxmlformats.org/officeDocument/2006/relationships/viewProps" Target="/ppt/viewProps.xml" Id="R41a790c82496473e" /><Relationship Type="http://schemas.openxmlformats.org/officeDocument/2006/relationships/tableStyles" Target="/ppt/tableStyles.xml" Id="R0acf4b24735145fb" /><Relationship Type="http://schemas.openxmlformats.org/officeDocument/2006/relationships/slide" Target="/ppt/slides/slide1.xml" Id="Rf8365b696a9d414a" /><Relationship Type="http://schemas.openxmlformats.org/officeDocument/2006/relationships/slide" Target="/ppt/slides/slide2.xml" Id="Rfed3dda5f5364057" /><Relationship Type="http://schemas.openxmlformats.org/officeDocument/2006/relationships/slide" Target="/ppt/slides/slide3.xml" Id="R511b2ff934bb4435" /><Relationship Type="http://schemas.openxmlformats.org/officeDocument/2006/relationships/slide" Target="/ppt/slides/slide4.xml" Id="Ra42ef49d75a24249" /><Relationship Type="http://schemas.openxmlformats.org/officeDocument/2006/relationships/slide" Target="/ppt/slides/slide5.xml" Id="R81f4675cf8604037" /><Relationship Type="http://schemas.openxmlformats.org/officeDocument/2006/relationships/slide" Target="/ppt/slides/slide6.xml" Id="R481f24061b4046b1" /><Relationship Type="http://schemas.openxmlformats.org/officeDocument/2006/relationships/slide" Target="/ppt/slides/slide7.xml" Id="R37cfea5b3c7a4769" /><Relationship Type="http://schemas.openxmlformats.org/officeDocument/2006/relationships/slide" Target="/ppt/slides/slide8.xml" Id="R086389aed2d74f07" /><Relationship Type="http://schemas.openxmlformats.org/officeDocument/2006/relationships/slide" Target="/ppt/slides/slide9.xml" Id="Rb7eb0ee7072d48dc" /><Relationship Type="http://schemas.openxmlformats.org/officeDocument/2006/relationships/slide" Target="/ppt/slides/slide10.xml" Id="R98f7ee958cd64460" /><Relationship Type="http://schemas.openxmlformats.org/officeDocument/2006/relationships/slide" Target="/ppt/slides/slide11.xml" Id="Ra12ac90153254d9a" /><Relationship Type="http://schemas.openxmlformats.org/officeDocument/2006/relationships/slide" Target="/ppt/slides/slide12.xml" Id="R0d6bd8d0145a4ff4" /><Relationship Type="http://schemas.openxmlformats.org/officeDocument/2006/relationships/slide" Target="/ppt/slides/slide13.xml" Id="R1f25feda54b443fb" /><Relationship Type="http://schemas.openxmlformats.org/officeDocument/2006/relationships/slide" Target="/ppt/slides/slide14.xml" Id="R706564792bca440b" /><Relationship Type="http://schemas.openxmlformats.org/officeDocument/2006/relationships/slide" Target="/ppt/slides/slide15.xml" Id="R5d6cf4111742442b" /><Relationship Type="http://schemas.openxmlformats.org/officeDocument/2006/relationships/slide" Target="/ppt/slides/slide16.xml" Id="Rb7654227f0664494" /><Relationship Type="http://schemas.openxmlformats.org/officeDocument/2006/relationships/slide" Target="/ppt/slides/slide17.xml" Id="R2095514820f444b1" /><Relationship Type="http://schemas.openxmlformats.org/officeDocument/2006/relationships/slide" Target="/ppt/slides/slide18.xml" Id="R427d4022a357476e" /><Relationship Type="http://schemas.openxmlformats.org/officeDocument/2006/relationships/slide" Target="/ppt/slides/slide19.xml" Id="Rd7ec8db3eea749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a08dfb65244c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3a5e68a78f492b" /><Relationship Type="http://schemas.openxmlformats.org/officeDocument/2006/relationships/notesMaster" Target="/ppt/notesMasters/notesMaster1.xml" Id="R0e7d28bab7e14c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41ac86c35c4408" /><Relationship Type="http://schemas.openxmlformats.org/officeDocument/2006/relationships/notesMaster" Target="/ppt/notesMasters/notesMaster1.xml" Id="Rde976d1ddcdc44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e715993b2c4887" /><Relationship Type="http://schemas.openxmlformats.org/officeDocument/2006/relationships/notesMaster" Target="/ppt/notesMasters/notesMaster1.xml" Id="R5c0ad86be707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a1d7ea97a4466" /><Relationship Type="http://schemas.openxmlformats.org/officeDocument/2006/relationships/notesMaster" Target="/ppt/notesMasters/notesMaster1.xml" Id="Rac75d52148a14a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d6d0aed8254c7c" /><Relationship Type="http://schemas.openxmlformats.org/officeDocument/2006/relationships/notesMaster" Target="/ppt/notesMasters/notesMaster1.xml" Id="R2e0618ace62249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4becd123546d5" /><Relationship Type="http://schemas.openxmlformats.org/officeDocument/2006/relationships/notesMaster" Target="/ppt/notesMasters/notesMaster1.xml" Id="R1c7cc15e2a4144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ee0cd538a246c3" /><Relationship Type="http://schemas.openxmlformats.org/officeDocument/2006/relationships/notesMaster" Target="/ppt/notesMasters/notesMaster1.xml" Id="R7ae7066469bf43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39c8bff634028" /><Relationship Type="http://schemas.openxmlformats.org/officeDocument/2006/relationships/notesMaster" Target="/ppt/notesMasters/notesMaster1.xml" Id="R289305e07c464f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2fc86a580647a7" /><Relationship Type="http://schemas.openxmlformats.org/officeDocument/2006/relationships/notesMaster" Target="/ppt/notesMasters/notesMaster1.xml" Id="Ra74e09e2132440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61f7987cd641e5" /><Relationship Type="http://schemas.openxmlformats.org/officeDocument/2006/relationships/notesMaster" Target="/ppt/notesMasters/notesMaster1.xml" Id="Rb991109f0f9d44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81827ee49f4082" /><Relationship Type="http://schemas.openxmlformats.org/officeDocument/2006/relationships/notesMaster" Target="/ppt/notesMasters/notesMaster1.xml" Id="R8d96b56fe11b4a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38852088d44a50" /><Relationship Type="http://schemas.openxmlformats.org/officeDocument/2006/relationships/notesMaster" Target="/ppt/notesMasters/notesMaster1.xml" Id="Rd460eb94e44541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8064415733438e" /><Relationship Type="http://schemas.openxmlformats.org/officeDocument/2006/relationships/notesMaster" Target="/ppt/notesMasters/notesMaster1.xml" Id="Ra7b573d8523c44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48f810d107448a" /><Relationship Type="http://schemas.openxmlformats.org/officeDocument/2006/relationships/notesMaster" Target="/ppt/notesMasters/notesMaster1.xml" Id="R47a674c196b746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f2adb12b054590" /><Relationship Type="http://schemas.openxmlformats.org/officeDocument/2006/relationships/notesMaster" Target="/ppt/notesMasters/notesMaster1.xml" Id="R35cec24361bd40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12909a6b9c4bec" /><Relationship Type="http://schemas.openxmlformats.org/officeDocument/2006/relationships/notesMaster" Target="/ppt/notesMasters/notesMaster1.xml" Id="Rd42691dc0c9f4f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41d65427a849fc" /><Relationship Type="http://schemas.openxmlformats.org/officeDocument/2006/relationships/notesMaster" Target="/ppt/notesMasters/notesMaster1.xml" Id="Ra7b0e2ff826c4d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b6d015b0a84d74" /><Relationship Type="http://schemas.openxmlformats.org/officeDocument/2006/relationships/notesMaster" Target="/ppt/notesMasters/notesMaster1.xml" Id="Rd00da56053fb45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92f0e733874337" /><Relationship Type="http://schemas.openxmlformats.org/officeDocument/2006/relationships/notesMaster" Target="/ppt/notesMasters/notesMaster1.xml" Id="R50bbff28668e44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03175e5af47e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9d79e1f38f4867" /><Relationship Type="http://schemas.openxmlformats.org/officeDocument/2006/relationships/slideLayout" Target="/ppt/slideLayouts/slideLayout1.xml" Id="R77b77716db214a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b77716db214ad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7400db279408c" /><Relationship Type="http://schemas.openxmlformats.org/officeDocument/2006/relationships/image" Target="/ppt/media/image.png" Id="R350b51f978114eec" /><Relationship Type="http://schemas.openxmlformats.org/officeDocument/2006/relationships/notesSlide" Target="/ppt/notesSlides/notesSlide1.xml" Id="Rb0689970fb6345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def214cd8429c" /><Relationship Type="http://schemas.openxmlformats.org/officeDocument/2006/relationships/notesSlide" Target="/ppt/notesSlides/notesSlide2.xml" Id="R89239ab125f9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d8cc209964230" /><Relationship Type="http://schemas.openxmlformats.org/officeDocument/2006/relationships/notesSlide" Target="/ppt/notesSlides/notesSlide3.xml" Id="Rcc312eb94761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8e4a0a1414058" /><Relationship Type="http://schemas.openxmlformats.org/officeDocument/2006/relationships/notesSlide" Target="/ppt/notesSlides/notesSlide4.xml" Id="R8533210674734f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3b8e5b0384bc9" /><Relationship Type="http://schemas.openxmlformats.org/officeDocument/2006/relationships/notesSlide" Target="/ppt/notesSlides/notesSlide5.xml" Id="R8e12b5c5db9849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def4fda874b99" /><Relationship Type="http://schemas.openxmlformats.org/officeDocument/2006/relationships/notesSlide" Target="/ppt/notesSlides/notesSlide6.xml" Id="R46cd6c2207c54f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0cbf8c23c407f" /><Relationship Type="http://schemas.openxmlformats.org/officeDocument/2006/relationships/notesSlide" Target="/ppt/notesSlides/notesSlide7.xml" Id="Recf8595aa7cf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299cf958f4be2" /><Relationship Type="http://schemas.openxmlformats.org/officeDocument/2006/relationships/notesSlide" Target="/ppt/notesSlides/notesSlide8.xml" Id="R63c0773df4eb49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7c13491db4716" /><Relationship Type="http://schemas.openxmlformats.org/officeDocument/2006/relationships/notesSlide" Target="/ppt/notesSlides/notesSlide9.xml" Id="Ra6ba3c145dfc4f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5fa95efcf4882" /><Relationship Type="http://schemas.openxmlformats.org/officeDocument/2006/relationships/notesSlide" Target="/ppt/notesSlides/notesSlide10.xml" Id="Rd9759c8f9d604b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1814f6feb4846" /><Relationship Type="http://schemas.openxmlformats.org/officeDocument/2006/relationships/notesSlide" Target="/ppt/notesSlides/notesSlide11.xml" Id="Rc2d4ba654d0443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a481783b142b5" /><Relationship Type="http://schemas.openxmlformats.org/officeDocument/2006/relationships/notesSlide" Target="/ppt/notesSlides/notesSlide12.xml" Id="R540bafae4eec4c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d768675f54d57" /><Relationship Type="http://schemas.openxmlformats.org/officeDocument/2006/relationships/notesSlide" Target="/ppt/notesSlides/notesSlide13.xml" Id="Rb16cc10272964f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645b0a39044ea" /><Relationship Type="http://schemas.openxmlformats.org/officeDocument/2006/relationships/notesSlide" Target="/ppt/notesSlides/notesSlide14.xml" Id="R4e3f1d2c83f14e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c2faa0166456c" /><Relationship Type="http://schemas.openxmlformats.org/officeDocument/2006/relationships/notesSlide" Target="/ppt/notesSlides/notesSlide15.xml" Id="Rd3ed9b2c1ac54e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586751a8e4375" /><Relationship Type="http://schemas.openxmlformats.org/officeDocument/2006/relationships/notesSlide" Target="/ppt/notesSlides/notesSlide16.xml" Id="Ra2e1698f2c7449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41a7e50f94db9" /><Relationship Type="http://schemas.openxmlformats.org/officeDocument/2006/relationships/notesSlide" Target="/ppt/notesSlides/notesSlide17.xml" Id="R1d02cf3538d747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63482caa54b26" /><Relationship Type="http://schemas.openxmlformats.org/officeDocument/2006/relationships/notesSlide" Target="/ppt/notesSlides/notesSlide18.xml" Id="R227cd34d68e740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1110c963747e2" /><Relationship Type="http://schemas.openxmlformats.org/officeDocument/2006/relationships/notesSlide" Target="/ppt/notesSlides/notesSlide19.xml" Id="R4186577b631845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2FDF8-EA3F-446E-A2C3-13FB659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3200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B73FFF-D50B-4181-B77A-7FBD355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31720"/>
            <a:ext cx="4663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NIS macht technische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Netzwerke prüfbar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C1D4DD-75A5-4464-850A-A9CEC02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1D3265-D253-4BCC-9C7E-8D2603F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3632"/>
            <a:ext cx="5943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Ein System, das Kommunikationsnetze beschreibt, berechnet, testet und erklärt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412D7B-21B0-45A5-B58D-5149B32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6400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9B9CC"/>
                </a:solidFill>
              </a:rPr>
              <a:t>Überblick für Engineering, Entwicklung und Management</a:t>
            </a:r>
            <a:endParaRPr sz="8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D7C78-46F3-4A0A-8C39-21B091A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1720"/>
            <a:ext cx="1051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80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3E1829-37FD-482A-98B8-2926210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34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definierte Prüfungen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6D7C21-08D6-4B89-AC70-FE7E2D3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172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&lt; 1 %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17E13E-0795-437B-97FA-AD0011A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52344"/>
            <a:ext cx="1280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Restfehlerziel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76CC34-C000-4D0C-9921-3CD295B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40480"/>
            <a:ext cx="3566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Ein gemeinsamer Datenstand verbindet Modell, Simulation, Testergebnis, Befund und Reparatur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204C10-4D3F-4B76-B7BE-38C192B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01</a:t>
            </a:r>
            <a:endParaRPr sz="750"/>
          </a:p>
        </p:txBody>
      </p:sp>
      <p:pic>
        <p:nvPicPr>
          <p:cNvPr id="25" name="User image — Build sign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b51f97811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0" y="1678710"/>
            <a:ext cx="4526280" cy="19095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32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B5D967-7E9D-4C7E-9C8B-EFE1B16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162EF6-C9A5-448F-8A74-4A71E4D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E04D7-B1D8-4699-A135-B4893B2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EINLEITUNG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75690B-8718-456C-BF6D-7EEA86F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B18B8F-29D5-4042-87AC-1DE5B99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NIS für ein Engineering-Team leistet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CE83368-5AFF-46D0-80EB-79D1CC1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FCA17-DF89-4F2C-A993-7B60408B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Skills sind ausführbare Arbeitsanweisungen: Sie führen durch Aufgaben, wählen Werkzeuge und sichern den Qualitätsprozess.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B674B8-E8A9-466A-A6AE-DB3F0D5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8E8FF"/>
                </a:solidFill>
              </a:rPr>
              <a:t>Skill-Layer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A484BA-14A1-4E20-B546-AC2C203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7432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4A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NIS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3C5235-8C79-4919-A09E-13D956F1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TOOL CHECKER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D3D253-0489-4336-A6C3-341CF2A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Prüfen &amp; reparieren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nimmt Aufgaben auf, speichert lokal, führt Tests aus und zeigt nur deterministischen Fortschritt.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942959-7D70-432E-9C43-74130071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BROWSER SKILL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FDEB37-CA14-43EC-9BEC-AFEBD001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Echte UI-Flows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klickt Wizards, Chat, Trace und Findings – API-Erfolg allein reicht nicht.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71BBD5-E620-4EB9-BC07-02A505C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ENGINEERING AGENT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85F332-6285-48E2-B908-D7BEFF9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Planen &amp;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versteht Ziele, typisiert Inputs, wählt MCP-Tools und validiert Completion.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8816A9-2F4A-4C31-8F01-5BE9A19B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WIZARD SKILLS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B5D38-6820-4658-8D4D-3902F01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Geführte Workflows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Projektanlage, Architektur, Signalprüfung, Traceanalyse und Finding-Bewertung.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01A1EE-1972-4B00-88B9-92D90FF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RULES MANAGER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85002C-2DD0-4BAB-8728-C53E63B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Governance sichern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Markdown-Regeln, Tool-Check-Vermerk, Akzeptanzlogik und Qualitätskriterien.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4BDCA2-4837-44E6-A3E9-B5EA154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TRACE &amp; FINDING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C0FA85-F6E0-4C1B-8AB4-087443D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Ursache bis Repair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Simulationsergebnis, Root Cause, Befund, Reparatur und Regression verknüpfen.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0873955-47A4-463E-BC9F-82A02C00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8FF"/>
                </a:solidFill>
              </a:rPr>
              <a:t>Kurz: Skills übersetzen Nutzerziele in reproduzierbare Engineering-Aktionen.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42790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02DD11-EE4B-4063-90DE-08B36FA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109042-9E6F-4418-A522-59CC0E7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B17247-D1A5-4BC2-9D91-B0AF1571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STORYLINE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1A46C1-2B7E-49E5-8B5F-E60760E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ADE121-6D29-4CAB-9EE5-D8788F1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Ablauf von der Idee bis zum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8BA38DF-91B0-434F-A2DD-9BE449F0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F15E10-1B06-4912-9FC1-21C15AE5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Station baut auf demselben Modell und denselben Prüfergebnissen 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8473DE-1CF0-423D-9E48-ACAD637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1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C54B86-0E23-427B-AC49-9241828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Geräte, Funktionen, Ports, Interfaces, Netze</a:t>
            </a:r>
            <a:endParaRPr sz="10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BEFFD-0B67-44AD-850C-F5EB6F0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1882DD-6280-4803-8C94-BFA9CAE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2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DC9878-C861-4EE3-884B-D35ADC0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Technisch prüfen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Routing, Kapazität, Timing, Validierung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41BAF15-8328-473D-9FBF-5F48C7F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4D8789-FB40-4274-BE7D-C6C65F8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9CDF88-3BAC-42A3-858F-662DA39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Snapshot, Faults, Reproduzierbarkeit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437FD4-4E24-4785-88DF-7E67C48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8F3F0-8083-4FA6-A052-C072CFDE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4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3561DE9-226C-45C7-B30F-6945C64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Analysieren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Trace, Root Cause, Findings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30EC2FD-21D7-45D4-9187-2373FCA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C06A78C-FF5E-4015-B859-05175D5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5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607996A-F089-4863-A0DE-0FF8884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Verbessern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Repair, Re-Test, Regression, Quality Gate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3F3B90-FDBF-42AE-8AD4-FA04F9F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Kernprinzip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2A0AB5-05E4-4247-AC68-F7E2BC44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6512"/>
            <a:ext cx="5120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577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NIS ist kein einzelner KI-Chat. Es verbindet Modell, Werkzeuge, Nachweise und Freigaben zu einem kontrollierten Engineering-Prozess.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C5D5D25-70AD-438C-9CC9-2AECE39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Was dadurch konsistent wird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46645C-59F3-4A42-9B2E-3EEE55D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Ablauf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gleiche Begriffe, gleiche Reihenfolge, gleiche Qualitätslogik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7ECCF29-6EDA-4C53-9BB5-BD0E11BA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Modell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Hardware · Funktion · Interface · Nachricht · Signal · Trace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87B16F2-7D26-4C9E-9723-49B1FFD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102352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Gate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 ist nicht das Ende – erst Repair + Regression schließen ab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419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7FFC4F-6DFE-4E33-994E-6781CDA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0F4308E-EB97-4A3A-AD95-B58E099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9F78FA-208A-439F-8E5A-FE477931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PLATTFORM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C2287-8231-43BC-82CE-9B54ADD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1EAE40-F828-46A7-BC96-0589B3B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die Plattform abdeckt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F1BB06F-FC98-4EC6-A48E-0D695CF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B6BDD4-6680-4348-9265-6DBD3F66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NIS macht technische Kommunikation berechenbar und die Ergebnisse nachvollziehbar.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61A295-CA6F-48BE-B689-206E4DB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MODELLIEREN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9DB657-6531-406F-9DAA-8351317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Hardware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Funktionen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Interfaces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Nachrichten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Signale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452AD86-FADC-4A54-A5BA-C802B43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59" y="3072384"/>
            <a:ext cx="24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9DD006-9256-49F7-8037-7B4D05D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PRÜFEN</a:t>
            </a:r>
            <a:endParaRPr sz="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468FBE-073A-466E-B4DB-E630776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Routing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Buslast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Timing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Validation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Preflight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145B8D-453A-43FF-9604-65B6651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7238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CABB38-8338-4C93-A9D7-DF4A6AE1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SIMULIEREN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A187B6-C2C0-4355-9FE9-B57AAAD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Snapshot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Golden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Fault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Reproduzierbarkeit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3D4BAC-FE1F-4FBC-8D77-9B7EC47C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72384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DB0D21-2F38-4643-B3DB-CAADBE88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ANALYSIEREN</a:t>
            </a:r>
            <a:endParaRPr sz="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C1D2B6-D22F-4F83-AEA4-2F70EA2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Akzeptanz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Repair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F735EE-AF23-406A-A9A9-2FA7698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8FF"/>
                </a:solidFill>
              </a:rPr>
              <a:t>Industrieneutral nutzbar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D14B205-05A8-4AD9-BE7A-14F11ED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Automotive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DD5EB7-C592-4967-A762-168901F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Drohnen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B87D48-11D4-4320-8B26-C5FEBDD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Robotik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A2B38-A92A-4826-9A55-7CFEE78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Gebäude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8BD6E3A-6864-427B-B539-1189C9D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Industrie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5EAF26-C5D7-47F2-BA8A-9D98DB7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Maritim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07EE781-0F10-42E9-977B-34EFFC4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6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A9B9CC"/>
                </a:solidFill>
              </a:rPr>
              <a:t>Der technische Kern bleibt gleich: Teilnehmer erzeugen Daten, Netze transportieren sie, Simulation und Trace machen Verhalten prüfbar.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84883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A61CCE-1E7B-4330-B9C3-F9F692D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CEDDED-4CA7-4BB0-BEEE-C32D887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9DF5C9-570B-4C15-BA15-02E67F30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ARCHITEKTUR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303DA-FF42-4FDD-9D42-16273B4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0CCE8A-9EC7-479A-863D-91BA0B1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Technischer Aufbau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36C701-8CBD-402F-AB3C-09FC751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DAE025-C8CD-4DE3-85EA-B24C14D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Schicht hat eine klare Aufgabe und liefert Ergebnisse an die nächste.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1FA615-DB4B-4281-B4EA-BC7EDC3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47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01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415963E-2116-4B9B-8AF7-881088B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0253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81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Oberfläche und geführte Schritte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5073B6-92C7-4C76-8A8F-40740D1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3911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E8FF"/>
                </a:solidFill>
              </a:rPr>
              <a:t>Next.js / React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C31686-A7D1-4145-B553-1E0F77C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2082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Projektanlage · Architektur · Signal · Trace · Finding · Chat</a:t>
            </a:r>
            <a:endParaRPr sz="9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1E57F3-CFAD-4E01-B159-4AD63C3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3928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02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EFCEEB-8E7C-4F4C-97FD-AAC907B5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3034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510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Planung und ausführbare Regeln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A37E70-3E55-42CB-9929-648301A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96692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F541"/>
                </a:solidFill>
              </a:rPr>
              <a:t>Engineering Agent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8E244F-3B22-4DD2-AFBE-399A8C2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863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Typing · Planung · Entscheidungen · Resume · Progress</a:t>
            </a:r>
            <a:endParaRPr sz="9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37B480-9641-4BB1-B37B-855B84C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0844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solidFill>
              <a:srgbClr val="FFD166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BF666B-934E-430B-8195-5969C52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1904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0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Werkzeuge und Fachlogik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B4B6847-C3EE-48F0-828C-1835415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908480"/>
            <a:ext cx="1840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D166"/>
                </a:solidFill>
              </a:rPr>
              <a:t>Python / Flask · Docker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309AE3-E012-49AE-B644-4387AAC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890192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A9B9CC"/>
                </a:solidFill>
              </a:rPr>
              <a:t>Modell lesen · Mutationen · Routing · Kapazität · Timing · Simulation · Container</a:t>
            </a:r>
            <a:endParaRPr sz="9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1B6FCEA-2D56-4521-96AB-D64072B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4279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CFF"/>
          </a:solidFill>
          <a:ln xmlns:a="http://schemas.openxmlformats.org/drawingml/2006/main">
            <a:solidFill>
              <a:srgbClr val="B98C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6F6518-D265-4A49-AB6A-4EA61C1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5339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Modell und Nachweise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E56ECD-2EF3-4C97-BB6B-437ACD2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801915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98CFF"/>
                </a:solidFill>
              </a:rPr>
              <a:t>PostgreSQL / Trace Store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9E67CE9-A3B6-4083-9DF4-35B7643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783627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Canonical Model · Snapshots · ToolResult · Audit · Findings</a:t>
            </a:r>
            <a:endParaRPr sz="9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C972AA5-719A-4AC6-BA8D-D1320231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Regel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408ABA5-59CB-42F0-9691-0C54294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586984"/>
            <a:ext cx="9006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F8FF"/>
                </a:solidFill>
              </a:rPr>
              <a:t>Docker/Compose kapselt die Services. Der Agent orchestriert; Fachlogik und Daten bleiben sauber getrennt.</a:t>
            </a:r>
            <a:endParaRPr sz="1300"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D0D466-A96C-464A-9A09-56DB9C3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0176"/>
            <a:ext cx="10652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TECHNOLOGIEHINWEIS  </a:t>
            </a:r>
            <a:r>
              <a:rPr sz="8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Next.js/React bilden die Web-UI; PostgreSQL speichert das NIS-Modell transaktional und verknüpft Objekte über Relationen, rekursive Abfragen und JSONB; Apache AGE ergänzt optional Cypher.</a:t>
            </a:r>
          </a:p>
        </p:txBody>
      </p:sp>
    </p:spTree>
    <p:extLst>
      <p:ext uri="{BB962C8B-B14F-4D97-AF65-F5344CB8AC3E}">
        <p14:creationId xmlns:p14="http://schemas.microsoft.com/office/powerpoint/2010/main" val="1985276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21370A-642B-420C-847A-8EE421E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D08BC8-77F1-4BA8-9C92-0C1ADD33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KI-STEUERUNG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BAA71D8-F4EF-4F1B-88BA-1A94CB8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80E588-BA78-42A7-9459-CD410C3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5EE4A8-D38D-4385-9939-FA0740F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Deterministik, lokale LLMs und Fallback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D604C-0AF7-421C-A806-0B06D6D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33602-407D-4C2A-A8EE-D140305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Berechnungen bleiben nachvollziehbar. KI hilft bei Planung, Erklärung und Analyse. Öffentliche Modelle bleiben ein kontrollierter Ausnahmeweg.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B86074-8CC6-4083-8392-0DE5985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E524398-C1DF-4A48-9EF8-A2FA813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A5542EE-5A6D-45CA-92D4-92793C8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5A248B-6661-47E4-ACFB-072DFF29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A97FDBC-B0CF-48B5-B00E-55A4093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Python-Core
Routing · Capacity · Timing
Validation · Preflight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693812C-F62E-4E0C-9252-89A7A22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5C7928E-8CE8-4BFF-A530-DA4D8E2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F0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741103-164D-4B3D-B43D-6281122C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A84E4F0-F5F1-4A2F-B268-9C60DD12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Lokale LLMs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924D85A-0365-40C7-95E0-AB78796B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Ollama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Qwen · Llama
Typing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Planung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Fragen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
Root-Cause-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Erklärung</a:t>
            </a:r>
            <a:endParaRPr sz="980" b="0">
              <a:solidFill>
                <a:srgbClr val="A6B2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A6E80F2-3141-434D-9706-84FBF42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132C8B7-C912-4904-A0F1-05B8540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D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C2A3BA-FEFF-49FF-8955-1444EC5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ABD4980-8720-450E-80DF-379DD55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MCP / Skills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6C929B2-441D-4BFB-8C55-EEE93340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Tool-Auswahl · Rechte
ToolResult · Evidence
Workload Resume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3E59C31-2E37-4C50-919E-53EF023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3F633E3-34B0-4D28-9450-BF54E5D8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689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CCA574-0412-4708-8552-AB5A50D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0CC7C6A-1F86-43A1-82B3-3512C6A6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354CEC3-70F6-4909-A25C-6BC0DDE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nur nach Freigabe
reduzierter Kontext
Audit · Datenschutz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727AC3FE-B0E9-424D-BC48-55DF773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464A2FBD-2A32-4D81-8BCA-E811648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AD2A0F7-8BA7-4A22-ADA6-797C013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743200"/>
            <a:ext cx="429767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22522D-DF63-48C7-A496-8B03EDED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Entscheidungsregeln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9606382-C3BD-4A76-BD15-3596248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5F04DF7-6129-4F5D-B776-11FC829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06240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1 · Fakten berechnen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40FE74D-4190-4DA3-8261-78DE8357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Encoding, Timing und Validation werden deterministisch geprüft – nicht geraten.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49A78755-DA23-47C8-9D2F-58C7E05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93A5A3D-FBE7-436E-9D01-8F7B4EE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206240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2 · Lokal interpretieren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AAD8AE4-91AA-4224-A2B7-0A2061C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Modelle formulieren Hypothesen, Rückfragen und Erklärungen mit Projektkontext.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940A0AC-2DB4-44A4-855C-FAA9B64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50791"/>
            <a:ext cx="31546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5239FD7-F17C-4C73-8CE7-BA34384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206240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3 · Fallback begrenzen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3C5869-DC30-4C3A-B697-7C08789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572000"/>
            <a:ext cx="282549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Öffentliche Modelle sind nur ein kontrollierter Spezialpfad, nicht die Standardlogik.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187F3A0-26CC-4976-A606-0A0E467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Regel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D4FD847-3348-4580-8AD3-D07FA6B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51383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Fachlogik entscheidet. LLMs unterstützen Kontext, Sprache, Planung und Analyse – niemals ungeprüfte Core-Änderungen.</a:t>
            </a:r>
          </a:p>
        </p:txBody>
      </p:sp>
    </p:spTree>
    <p:extLst>
      <p:ext uri="{BB962C8B-B14F-4D97-AF65-F5344CB8AC3E}">
        <p14:creationId xmlns:p14="http://schemas.microsoft.com/office/powerpoint/2010/main" val="5248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46F913-1D4E-4320-B47A-D7DDEDD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942A26-F223-4EB8-9280-6E90242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RECHENLEISTUNG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58A0F5-B188-4AFF-80A4-BBBA8365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D332D6-E3EB-45BD-B955-7A1D14D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A6E4B5-7E89-414F-8B13-F1D671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Welche Rechenwege genutzt werden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531559-67B1-42F5-B088-8F8606E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8856AA-F00D-403D-8710-AF65102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Feste Prüfungen laufen planbar. Lokale Modelle nutzen GPU-Leistung, falls vorhanden.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ABC27C-154E-4A4C-AB43-D496EEF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9B5E14-3B6B-44F2-A474-D122325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CPU · Flask / Waitress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F0D8CF-840F-4DD4-AC14-B6DF85C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API · MCP · Routing
Capacity · Timing · Validation
Trace Query · DB Zugriff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0762AE1-8BB6-476E-A191-15FC99B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99EDF8-9C10-49A8-90AC-E6CF6AE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09397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GPU · CUDA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F058DF-2CFE-4134-81A9-A940D21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LLM-Inferenz
Embeddings · Reranking
Root-Cause-Hilfen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97842-74C5-4D4E-876C-57258B9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38528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925678-1FB4-4C08-9223-946DFA2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9397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93629-6E86-4FF4-858F-0BAD393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459736"/>
            <a:ext cx="26426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Policy-Freigabe
reduzierter Kontext
Logging · Audit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808399B4-EAED-409F-A3FF-08772F6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AEB4F08-A7E4-42ED-93B4-E210251D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DAAB86-4D74-49C4-A5A3-0BC6C13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84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Runtime-Verteilung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227129C-6FCD-41A4-A2A1-18CD6CE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31920"/>
            <a:ext cx="106527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D30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4E7F6B-5347-49D9-B233-CE53097C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7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D15C"/>
                </a:solidFill>
                <a:latin typeface="Aptos"/>
                <a:ea typeface="Aptos"/>
                <a:cs typeface="Aptos"/>
              </a:rPr>
              <a:t>Docker / Compose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EEFFAA-7739-4778-B45F-7B7FD6E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14800"/>
            <a:ext cx="8138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UI · API/Waitress · Python Worker · Ollama/LLM · PostgreSQL · Trace Store · Queue bleiben getrennte Services.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6729D4B-F05C-497D-87B7-E0C28C4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Queue/Worker puffern lange Jobs. GPU wird für lokale Modelle genutzt; CPU bleibt für deterministische Prüflogik stabil planbar.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446A05B-72A8-4341-B52D-F1864E0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D7DBF1-C5DE-44B7-8332-552D9EF2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7725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Degradation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EC9FB5A-2D38-4CC0-98DC-7CC5E86E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GPU fehlt → CPU-Inference / kleines Modell / kontrollierter Fallback.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2995D69-BF6E-4E5A-930F-EA03C315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7387CEC-3773-4BF5-9880-5CDF866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47725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Priorität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2D4EF4D-9450-425F-9D4F-78B978C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Simulation und Validation haben Vorrang vor generativer Erklärung.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CDE3A99-FAEA-452F-B1A1-B7ADE6D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321808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63F1E7-BBC8-4721-96F4-52532C0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47725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7E83C28-A9A0-45FD-82F2-DF4C00D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843016"/>
            <a:ext cx="264261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Keine externen Daten ohne Policy, Reduktion und Audit.</a:t>
            </a:r>
          </a:p>
        </p:txBody>
      </p:sp>
    </p:spTree>
    <p:extLst>
      <p:ext uri="{BB962C8B-B14F-4D97-AF65-F5344CB8AC3E}">
        <p14:creationId xmlns:p14="http://schemas.microsoft.com/office/powerpoint/2010/main" val="1596161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62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Ein gemeinsames Modell verbindet alle technischen Objekte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C808D1-CD86-495E-8E50-A6F70F6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95D400-4D4A-45E3-B19A-E53310A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0B4862-E903-4169-BB5D-8537FC0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WIZARDS &amp; AGENT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E35754-F447-43C4-9A05-E1F4AFF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2D7946-860E-498F-9037-72DA3A5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Geführte Schritte und Agent arbeiten zusammen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E79E3E-571D-43D9-BF4F-040C8D7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A35BAB-DEB1-4D69-8572-572D8BE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Wizard ist Einstieg und Struktur. Der Agent liest das Modell, plant, fragt nur bei Entscheidungen und führt aus.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5800FBF-BDE0-448A-9178-86CFF283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Hauptwizard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Projektanlage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Pflicht-Gate 0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31000B0-FAA6-4666-814D-CB1C30A0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1CEA53-BFBC-4767-AF14-82018F2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Fachwizard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Architektur · 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 · Finding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A001EE-AEDE-44CA-B332-9331BDA5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7CEE8B-7817-400A-8562-2933F42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Agent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Typing · Planung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Decision · Resume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8B9543-3511-46A1-B562-ED075B1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080CDA-7BAE-4886-8467-37F2BA7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MCP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Read · Mutate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Validate · Simulate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0534FB-7012-4396-9DA6-03439FB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032944-A0EB-4D55-A52C-54517DD8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Routing · Capacity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Timing · Trace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952FB8F-2E81-4EAB-B5B7-22B5235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C10B3D-A823-4586-96E0-48C1DF6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Ergebnis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Evidence · 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Repair · Regression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ACBD7F2-F2DB-4427-8035-5A8C1B1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520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Entscheidungslogik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F3805D-BCF0-4644-A4CC-1259C95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NICHT FRAGEN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2CEC982-7F7D-4F3D-8B33-158F4049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Deterministische Fakten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freie Ports, vorhandene Netze, Schemas, Kapazitätswerte und aktuelle Modellobjekte selbst prüfen.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60583A-4F65-4238-BF44-9BF6F88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GEZIELT FRAGEN</a:t>
            </a:r>
            <a:endParaRPr sz="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8211D0-5311-443E-A698-23222F2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Engineering Decision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Direktverbindung vs. Gateway-Pfad, Technologieauswahl oder bewusste Risikoakzeptanz.</a:t>
            </a:r>
            <a:endParaRPr sz="10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5BB6B2D-F894-4E99-B44C-AE49EB0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NICHT STOPPEN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FF68ED4-C077-4AA6-9190-F7778761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Completion Contract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erst fertig melden, wenn Routing, Capacity, Timing, Validation und Evidence stimmen.</a:t>
            </a:r>
            <a:endParaRPr sz="10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177DF35-AC71-42C7-B525-361CF61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09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Damit verschwindet die Inkonsistenz „Wizard öffnet nur Tool“: Jeder Wizard muss fachlich wirksam sein.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56513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A274DF-E9DC-48CC-A088-6FE6C63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D3BC7E-A36A-46F6-96A8-5B313C7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4DC23C-AFA0-4845-AAC8-D721277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SIMULATION &amp; TRACE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EFD02D-CBC9-4B27-8635-345CCC6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A800AD-B572-455E-AAA2-6298CE1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Simulation zeigt Verhalten, Trace zeigt den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868F72-EDC9-46E1-89F6-BF1529F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AE4BD1-DBD3-4D45-A6D5-8279B99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Der Trace ist nicht nur Log-Ausgabe, sondern Evidence für Root Cause, Finding und Reparatur.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A1F29B-197D-4FE4-93F8-E343663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Modellstand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eingefrorener Snapshot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B69C79-AD40-4344-8CC0-18BEA8A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CDE444-6975-46D7-8199-48DCCC8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Golden Run + Fault Run</a:t>
            </a:r>
            <a:endParaRPr sz="10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105019-93DF-4AC8-A0B7-465C6BF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9F02DC-79C6-4895-AF59-C7255ED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Universal Trace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Events · Sequenz · Signale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01D912-7C9F-450C-8DA4-60EEE3C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24516D-C7CC-4B1C-BF49-CAD05028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Root Cause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Kausalität + Confidence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AADA46-DA78-4006-85E6-58AF9D6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1A6A064-53FC-4CD1-B643-5DCAA3B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Finding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Entscheidung + Audit</a:t>
            </a:r>
            <a:endParaRPr sz="10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87B0C42-7F47-496B-9BEB-4D40CB9D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520440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Trace-Views bleiben synchron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4795FE-E272-4E79-B153-89C7F5B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Botschaften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Timestamp · Source · Destination · Technology · Payload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BB07271-7464-4224-9D2A-AA96E50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81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Sequenz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Gateway-Hops · Route · Delay · Technology Change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2051C9-4BAC-4D6D-BCE9-657B85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5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Signale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Wert · Einheit · Qualität · Statuswechsel · Fault Marker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7E5200F-33D2-4AB8-8C45-C8869EC8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89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6B6B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Root Cause · Evidence · Risikoentscheidung · Review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AEA41B7-E581-4629-8DAE-93070C4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Beispiel-Fault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8746B80-5EE3-439D-8439-0C6FF9B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230368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Gateway Delay ab 12 s → Queue Growth → Message Delay → Deadline Miss → Finding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42195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7F087B-51BC-430D-832A-C76210C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979051-5E42-452A-8572-C82BE04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ABBD3D-AEC4-4275-9649-373C9B2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KONTEXT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4CD8E3-5E43-4A4E-906D-C369AA9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A776B4-BD57-467C-B67A-782B0C8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Lokale KI arbeitet mit Projektwissen und Fachlogik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5CCF17-5A9D-4DDA-84D6-35F7DD0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FD8301D-7D6D-433C-AB80-03FE166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LLM, RAG und MCP bilden gemeinsam einen kontrollierten Kontext – kein blindes Generieren.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5322FD-3A54-4A6F-9ADB-E078F76F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LOKALES LLM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7DC9FB-5246-4E8B-BF62-72495343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Formulieren &amp; planen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Ollama oder austauschbarer lokaler Dienst; keine fachliche Wahrheit ohne Tools.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B8C3B2-D50F-4FD5-9EC9-5EB305C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HYBRID RAG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84B95C-B2E3-4D25-B376-37D2B68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Kontext bündeln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Stichwörter, Vektorähnlichkeit, Metadaten und Modellbeziehungen zusammenführen.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B1C173-0EA7-4993-852D-1661C38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MCP TOOLS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621CF3-FD3B-4B2A-8999-29A0864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Fachlogik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 lesen, Mutationen durchführen, Routing berechnen, Simulation/Trace analysieren.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66BBA6D-B90C-431A-BD73-D38124F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96B8238-EE0A-42C4-B9FD-5534FA9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1CB1E73-3910-4467-B339-0E0052B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Kontextpriorität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D6E5BB-F62C-4D92-BAC8-85EB025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1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60B4B4-8EC5-49F4-A9AF-6DBCAF9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aktueller Projektstand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DBE77E7-AB76-47A5-8920-EA10D0E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2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86345D-01F3-44E8-B581-C65849E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ausgewählte Objekte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FADAB5-37DA-4666-AE62-3F133C0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3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621ACD8-2D16-4D83-994E-7435DB1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verknüpfte Modellbeziehungen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99902B-EC09-4858-8DA6-30C87FF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4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E12611-3002-4C7B-976D-C2E3DAA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Dokumentquellen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946984-C232-4FBB-A2A6-85612AF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5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FE7A0D-0B72-4794-AFA6-26D1B92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Gesprächsverlauf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7134A6-3319-4610-99AC-43DD363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Wichtige Einordnung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1C24A3E-E3BC-4DD2-877D-ACF501F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3327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RAG ist kein Nachtrainieren des LLMs. Es ist ein projektbezogener Antwortkontext mit Quellen, Modellzustand und begrenzter Relevanz.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7880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7FAF44-832C-4CF1-B377-69413F2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A101B7-0967-49C5-A773-1778225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F9D3E-B17E-4313-9470-B10D366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QUALITÄT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08D693-EDD3-4CE7-9507-ADC21C20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B7C81D-16E0-45A1-A3BB-ADA9760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Qualität beginnt beim Finden und endet beim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436E35-1C65-4337-B804-1BB2515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2203CF-D9ED-4EC2-8B58-E5A053B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Jeder bestätigte Fehler wird repariert, erneut geprüft und mit einem objektiven Nachweis geschlossen.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1E2C3C-56EF-45DE-892E-0F34F682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C703A5-442B-4597-8394-67B35B1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CD40B0-9334-4EE2-9E45-81C5764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9FCBB9-9FDA-44AF-83E3-A32AE94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8E8865-126E-4655-AA86-AD24936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FIX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816DF7-91B4-4E5B-8EDC-15B09D5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0DD4B1-C962-4FD2-AA49-0BC92AA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RE-TEST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45A8E33-05DE-4383-9E1B-70957E4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F1F9FA-85E4-4F14-9ADD-7ED2729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80E510-147A-4F7B-A063-447E280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03A7AC0-282A-4A0E-AFF8-7CD2A8D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 w="13970">
            <a:solidFill>
              <a:srgbClr val="8CF541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7111F"/>
                </a:solidFill>
              </a:rPr>
              <a:t>CLOSE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78AAC8-51A8-4DFF-9EA4-2EFC62C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Quality Gates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2353251-A864-45F6-915D-B44D00D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100 %</a:t>
            </a:r>
            <a:endParaRPr sz="2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7739AB-BC57-4E4D-B3BE-FF6FB1E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Pflichtanforderungen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06D29E-D9E0-43EF-87B7-F13DC63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8E8FF"/>
                </a:solidFill>
              </a:rPr>
              <a:t>100 %</a:t>
            </a:r>
            <a:endParaRPr sz="2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500483-92FB-4F28-A76F-32058DC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kritische Journeys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CE0DE6-BE9C-4BE5-9C60-0E1B49C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6B6B"/>
                </a:solidFill>
              </a:rPr>
              <a:t>0</a:t>
            </a:r>
            <a:endParaRPr sz="2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2B9A748-F478-49B2-9E43-064420A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P0 / Blocker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F63FB9-3B92-40AD-880A-48C46E2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0</a:t>
            </a:r>
            <a:endParaRPr sz="2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A1C1C3-BC56-47F4-909C-90162A05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Blocking P1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A3C4910-CCF2-41F3-A42F-2C96F02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767328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&lt; 1 %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6C09171-39C0-478B-9458-2F8188F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87952"/>
            <a:ext cx="160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nichtkritische Restfehler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E77181F-4FF1-40F4-BF46-919BD82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332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Kritische Journeys sind binär: kaputte Projektanlage, kaputter Agent, falsches Routing oder defekter Trace können nicht durch viele kleine PASS-Werte kompensiert werden.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33277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CCED84-0381-4027-8873-65F1226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DA86A1-CC91-4A96-AD71-DB9829F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BEC671-6B8B-4B48-BDBB-B7C85692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TOOL CHECKER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147986-77D0-49D4-8783-76EF689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6D0CE7-A863-49A2-8363-7F74EF8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Tool Checker prüft den gesamten Ablauf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EB81BA6-7A9C-453C-BDC8-DD04C77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867B89-FAA8-4DD5-B64D-8E879F3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80 reale Prüfungen decken Fachlogik, Oberfläche, Trace, Wizards und Agent ab.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8F76DE8-E2CD-4AE8-9474-B19CD4A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CF541"/>
                </a:solidFill>
              </a:rPr>
              <a:t>S01–S20 A/B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1A88BA-0B2F-4257-916B-1C45384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40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2BDB35-0EDA-4C5B-9714-3E2BB54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fachliche Musterprojekte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über Hauptwizard</a:t>
            </a:r>
            <a:endParaRPr sz="93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C91A2-4DC3-4B1F-83C0-A4F6F66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8E8FF"/>
                </a:solidFill>
              </a:rPr>
              <a:t>S21–S30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EEC59F-89DB-4E4B-AB1E-CB46715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BC2674A-F253-45F6-990B-40472CDB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Chat · MCP · UI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Integration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D7BCD0-9040-4147-894D-336A0DF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D166"/>
                </a:solidFill>
              </a:rPr>
              <a:t>S31–S40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A74AE0A-38AE-4281-9BA4-26568468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E15D9B-7A4C-4AE9-813C-1CD34F9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Trace Analyse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Simulation Evidence</a:t>
            </a:r>
            <a:endParaRPr sz="9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0F4972-4946-4D5B-931A-72E519D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98CFF"/>
                </a:solidFill>
              </a:rPr>
              <a:t>S41–S50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8E2CEE1-A8DC-4DE8-982A-3577569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C7594E-A66F-4171-B94F-D2E3756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Wizard-System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Registry · State · Regression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3EAE4A-BDB5-418C-9F38-21AFF17F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6B6B"/>
                </a:solidFill>
              </a:rPr>
              <a:t>S51–S60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8D8AD0-BB04-42EA-AE96-F30E757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4DDD-C32F-4306-9B4E-DAD0E21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Engineering Agent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Reasoning · Planning · Completion</a:t>
            </a:r>
            <a:endParaRPr sz="93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2D4E0E7-6BE4-48BD-A262-8EE4B21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8CF541"/>
                </a:solidFill>
              </a:rPr>
              <a:t>80</a:t>
            </a:r>
            <a:endParaRPr sz="3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76D779-72DF-4399-8C02-B864629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reale Prüfungen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72B146-6E91-4112-A253-C41913A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86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Master-Logik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EB558BF-0A49-4B74-A15C-E33CF42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187952"/>
            <a:ext cx="8732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4F8FF"/>
                </a:solidFill>
              </a:rPr>
              <a:t>Alle Musterprojekte starten über die echte Neue Projektanlage. Danach laufen alle anwendbaren Wizards, Chat-Agent, MCP, Simulation, Trace und Finding im selben Projektkontext.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8F838D8-5E2C-4BFA-A499-AEB73DA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166360"/>
            <a:ext cx="42062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Default-Modus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VERIFY_AND_REPAIR – Befund nicht nur melden, sondern beheben und erneut prüfen.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D109FD4-C119-48AA-9448-69789C8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166360"/>
            <a:ext cx="41605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Progress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Prozentanzeige deterministisch; keine LLM-Aufrufe für reine Visualisierung.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3106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F81C3-E131-4EC1-B046-B682CFE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8083C3-748D-457F-9AF2-1A7274D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BA0FB9-139B-4093-8B0F-5653E26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D88500-0FFF-4F32-91EB-9396B37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AD000E-DDBB-4862-8B45-CD9A597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wichtigsten Bausteine in einem Überblick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8A736-2D42-464E-B292-30164FD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041B80-1A4A-4565-B3B0-5850E0B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Die Plattform verbindet Modell, KI, Simulation und Qualität in einem nachvollziehbaren Ablauf.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7473F3-62A8-4DB8-99A1-591330A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EIN EINSTIEG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1B5DE6-9088-4D5A-B3DB-A1BB424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Hauptwizard zuerst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jede Projektanlage ist Quality Gate 0 und muss real über UI + Core funktionieren.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4C95E-57E5-4B78-B083-1836057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EIN MODELL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19F3D6-2D69-4575-9196-D9B38F0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Single Source of Truth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Hardware, Funktionen, Interfaces, Netze, Nachrichten, Signale, Trace und Finding bleiben verknüpft.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5BF4A6-523D-41B9-8A66-DB1A3D41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EINE KI-ROLLE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49C296-6B12-40EA-8BB4-376DDF73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Agent orchestriert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LLM plant und erklärt; MCP/Core liefern Fakten, Berechnung und Mutation.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CAD260-AF8D-47E3-9585-2C14516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4. EIN QUALITÄTSPROZESS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6EF4162-8736-4F14-8467-A9A8F1B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 → Fix → Re-Test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Befunde werden repariert, regressionsgeprüft und erst mit Evidence geschlossen.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94F56A-3E02-434C-B380-4CAD2AB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5. EIN TESTINVENTAR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FDE158-BF7D-4785-A289-A5AAC35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80 Checks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40 Musterprojekte + Integration + Trace + Wizard + Agent-Systemprüfungen.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5109115-3EF1-4DAE-BDC3-2F92F04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6. EIN NÄCHSTER SCHRITT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39874B-F2A4-4482-A132-29E392A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Release Candidate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Canary-Lauf, vollständiger Batch, Dashboard und Abschlussbericht mit Quality Gate.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293CC5-B40E-459F-A525-09BBAEE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0652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Zielbild: NIS erstellt nicht nur Diagramme – NIS prüft, simuliert, erklärt, repariert und dokumentiert technische Kommunikationsarchitekturen.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057712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83476-6620-4E75-B78C-346CBC1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8F15B3-A74B-4712-A8F3-6489F82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1DBE6C-7BA3-46BF-83F7-A164F6B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AUSBLICK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947B6C-051C-417D-834A-E8635C1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27C9D8-C80D-400C-9BC0-7A49AA5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Wo NIS eingesetzt werden kann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502D17-533F-447D-B5E5-6428122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251FB4-6968-44A8-A15C-1DEB8E7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gemeinsames Modell begleitet Entwicklung, Absicherung und Betrieb.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863563-96CE-4678-8727-7B91426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ENTWICKELN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3165CB-3E38-42FA-AB42-8E2D006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Architekturen gestalten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Varianten vergleichen und Kommunikationspfade früh festlegen.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623BA5-7091-4868-A5EF-9960D98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ABSICHERN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C6634D-3C7E-4F5F-ABA2-F24017B5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Systeme validieren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Routing, Timing und Fehlerfälle vor dem Einsatz reproduzierbar prüfen.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C9DBB9-CD70-4A92-94FC-9969EDD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BETREIBEN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BC2552-4348-440B-8337-20F2FEF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Ursachen verstehen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Traces analysieren, Findings ableiten und Verbesserungen nachweisen.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3AE8C0-7E1F-49FA-B4F9-461DCC02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 Modell verbindet Konzept, Test und Betrieb.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8345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334B82-8CD4-4C75-B390-4B1E890F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1D5BED-7714-4735-B304-8367BCB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E21035-76BC-4B26-87C6-62010CB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A0A036-F9B3-440C-A416-345A7FCE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2B2141-C66C-435E-B724-4B0DC15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drei wichtigsten Aussagen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FF0DA4-7D3E-4250-A47C-51F40D3F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EC7133-2E75-474A-95E9-C6BDA29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Drei Prinzipien machen die Plattform verständlich und beherrschbar.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7071C4-10DE-4B49-B949-1C5DB34E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GEMEINSAMES MODELL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16986C-9729-4E8C-8552-4BA879A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Eine Datenbasis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Engineering-Objekte, Zustände und Nachweise bleiben konsistent verknüpft.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C9498D-3AC0-45A3-9B72-7DB2E9D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KONTROLLIERTE KI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9C70E5-0098-41C3-A51C-A08E83A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Fakten vor Erklärung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Der Core berechnet; Agent und LLM planen, steuern und erläutern.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82F7A7-07A3-4C83-8353-074CF5B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GESCHLOSSENE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CE67427-5B2A-43C1-9898-455FCB1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Vom Finding zum Nachweis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Repair, Re-Test und Regression schließen den Qualitätsprozess.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EA4EECB-10A4-4016-B8A0-9C9BD42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Das Ergebnis: technische Entscheidungen werden schneller und ihre Qualität bleibt nachvollziehbar.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785809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34048-0411-4186-9DCD-5AC6EB8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98448"/>
            <a:ext cx="6153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A296D6-8B80-46D6-B4F8-482B90E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4519"/>
            <a:ext cx="94457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Danke.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33C5EE-1216-46D2-8DD7-24078FE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92608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B99C87-7393-48F7-B254-E5B89B4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3552"/>
            <a:ext cx="8531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4F8FF"/>
                </a:solidFill>
              </a:rPr>
              <a:t>Fragen, Diskussion, nächste Schritte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A88FF9-4DB1-4EF8-A5B1-8D212DB3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49039"/>
            <a:ext cx="8531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9CC"/>
                </a:solidFill>
              </a:rPr>
              <a:t>Engineering trifft KI – kontrolliert, nachvollziehbar und wiederholbar.</a:t>
            </a:r>
            <a:endParaRPr sz="8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235429-FEE0-4ED4-B93C-A7336FD1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4590288"/>
            <a:ext cx="458114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Build signals. Understand systems.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7CCC6F-B799-4A8A-B58D-9A74521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17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5135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B9C631-5B16-4941-84E5-22C47AA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2E838B-9BE4-4E87-88E3-D2B9083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E166B6-160E-4F95-8082-6D339154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B8EE3B-2A4B-462E-B5D1-4363747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21C7A7-03AE-4C1B-8392-D6327579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Abkürzungsverzeichnis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9FA449-67C2-4B30-90C4-2D588CF3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418070-D3A8-4242-A17F-AC0FE6A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Zentrale Begriffe aus Plattform, KI, Daten, Systemtechnik und Qualität.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33169E-8149-42D9-AC07-03745B1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PLATTFORM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ADED23-C750-427A-AC89-E8F1219B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NIS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Network Intelligence Simulator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KI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Künstliche Intelligenz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UI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User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Application Programming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MCP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D002F2-17A0-46CC-A2C0-FF9D3AE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DATEN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69E820-FCAB-41C9-80B7-A091A483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LLM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Large Language Model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RAG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Retrieval-Augmented Generation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DB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Database / Datenbank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CPU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Central Processing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Graphics Processing Unit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2F75B3-B9B0-423B-B061-2DEAB7B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SYSTEM &amp;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5EF7B1-835B-4799-A194-5999D2F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CUDA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Compute Unified Device Architecture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ECU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Electronic Control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CAN-FD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Controller Area Network Flexible Data-Rate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SPS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Speicherprogrammierbare Steuerung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P0 / P1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Priorität 0 / Priorität 1</a:t>
            </a:r>
          </a:p>
        </p:txBody>
      </p:sp>
    </p:spTree>
    <p:extLst>
      <p:ext uri="{BB962C8B-B14F-4D97-AF65-F5344CB8AC3E}">
        <p14:creationId xmlns:p14="http://schemas.microsoft.com/office/powerpoint/2010/main" val="10080202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A64CF0-63B6-44BA-A83C-A8BAA2E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A4087F-24A9-4D65-9C2B-D79B042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D075A3-FBFB-4AE6-A2AB-D649192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767E71-F557-4B6D-A1EF-23E2AABC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E76878-148A-4377-918E-E269961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LLM-Modelle und Ressourcen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2907CE-AD02-42DC-89D6-A5A7F2D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571DBE-1526-4FFD-A0D5-2BDA43A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Qwen und Llama laufen lokal über Ollama; konkrete Tags und Hardware sind vor dem Release zu fixieren.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365BE1-EF5A-4D1C-9A80-62BD4A1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QWEN 2.5 · 7B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B0B034-2866-4FB4-B309-6A196C6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Referenzprofil · Tag offen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Planung · Fragen · Tool Use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4,7 GB · quantisiert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 GB VRAM oder 12–16 GB RAM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1AC83F-48CD-4982-B3EE-DC603E4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LLAMA 3.2 · 3B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4A56EA-508A-435F-AE80-E4A7721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Kleines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CPU-Fallback · Zusammenfassung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2,0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4–6 GB VRAM oder 8 GB RAM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09C9BF-B030-42AF-A747-0AD781F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LLAMA 3.1 · 8B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EF5774-1597-476F-858A-4DF5020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Stärkeres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Erklärung · Root Cause · Dialog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4,9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8–12 GB VRAM oder 16 GB RAM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C6709-DC8F-4E2D-83D9-77B4253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13832"/>
            <a:ext cx="9966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*Planwerte für lokale Inferenz; Kontextlänge und CPU/GPU-Offload erhöhen den Speicherbedarf. Quellen: Ollama Model Library &amp; Hardware Support (Abruf 21.09.2026).</a:t>
            </a:r>
          </a:p>
        </p:txBody>
      </p:sp>
    </p:spTree>
    <p:extLst>
      <p:ext uri="{BB962C8B-B14F-4D97-AF65-F5344CB8AC3E}">
        <p14:creationId xmlns:p14="http://schemas.microsoft.com/office/powerpoint/2010/main" val="15274677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2026-09-22T16:13:31.5080000Z</dcterms:created>
  <dcterms:modified xsi:type="dcterms:W3CDTF">2026-09-22T16:13:31.5080000Z</dcterms:modified>
</coreProperties>
</file>