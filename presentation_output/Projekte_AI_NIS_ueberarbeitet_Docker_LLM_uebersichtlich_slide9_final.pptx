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85f07ddf144c43" /><Relationship Type="http://schemas.openxmlformats.org/officeDocument/2006/relationships/extended-properties" Target="/docProps/app.xml" Id="Rff215d9feaca42b5" /><Relationship Type="http://schemas.openxmlformats.org/officeDocument/2006/relationships/officeDocument" Target="/ppt/presentation.xml" Id="R406c42c34b7c4e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86e930679b4154"/>
  </p:sldMasterIdLst>
  <p:notesMasterIdLst>
    <p:notesMasterId xmlns:r="http://schemas.openxmlformats.org/officeDocument/2006/relationships" r:id="Rd8dba025f9924e57"/>
  </p:notesMasterIdLst>
  <p:sldIdLst>
    <p:sldId xmlns:r="http://schemas.openxmlformats.org/officeDocument/2006/relationships" id="256" r:id="R3481162eb0f64a9c"/>
    <p:sldId xmlns:r="http://schemas.openxmlformats.org/officeDocument/2006/relationships" id="257" r:id="R6a4aad111ee249bf"/>
    <p:sldId xmlns:r="http://schemas.openxmlformats.org/officeDocument/2006/relationships" id="258" r:id="Rb55264e91e3940aa"/>
    <p:sldId xmlns:r="http://schemas.openxmlformats.org/officeDocument/2006/relationships" id="259" r:id="R536abcf4cce14e8f"/>
    <p:sldId xmlns:r="http://schemas.openxmlformats.org/officeDocument/2006/relationships" id="260" r:id="R4cd552fc2ac0476b"/>
    <p:sldId xmlns:r="http://schemas.openxmlformats.org/officeDocument/2006/relationships" id="261" r:id="R541c3f0e277946c6"/>
    <p:sldId xmlns:r="http://schemas.openxmlformats.org/officeDocument/2006/relationships" id="262" r:id="R3e8657c239f84558"/>
    <p:sldId xmlns:r="http://schemas.openxmlformats.org/officeDocument/2006/relationships" id="263" r:id="Re44ed40450e94686"/>
    <p:sldId xmlns:r="http://schemas.openxmlformats.org/officeDocument/2006/relationships" id="264" r:id="Re275eb6dd5e147a1"/>
    <p:sldId xmlns:r="http://schemas.openxmlformats.org/officeDocument/2006/relationships" id="265" r:id="R17410db543b94808"/>
    <p:sldId xmlns:r="http://schemas.openxmlformats.org/officeDocument/2006/relationships" id="266" r:id="R49aec4bbfb524e59"/>
    <p:sldId xmlns:r="http://schemas.openxmlformats.org/officeDocument/2006/relationships" id="267" r:id="Rdded9710db06417d"/>
    <p:sldId xmlns:r="http://schemas.openxmlformats.org/officeDocument/2006/relationships" id="268" r:id="R232c26a39cfa4eb0"/>
    <p:sldId xmlns:r="http://schemas.openxmlformats.org/officeDocument/2006/relationships" id="269" r:id="Rb27016edba1a4a93"/>
    <p:sldId xmlns:r="http://schemas.openxmlformats.org/officeDocument/2006/relationships" id="270" r:id="R2f1d8baeca9e4abd"/>
    <p:sldId xmlns:r="http://schemas.openxmlformats.org/officeDocument/2006/relationships" id="271" r:id="Rd4bc011c120c4e4d"/>
    <p:sldId xmlns:r="http://schemas.openxmlformats.org/officeDocument/2006/relationships" id="272" r:id="Rce2d43eda9c24f11"/>
    <p:sldId xmlns:r="http://schemas.openxmlformats.org/officeDocument/2006/relationships" id="273" r:id="R42b9b28c3fcf4173"/>
    <p:sldId xmlns:r="http://schemas.openxmlformats.org/officeDocument/2006/relationships" id="274" r:id="R1db32bd1985f44b7"/>
    <p:sldId xmlns:r="http://schemas.openxmlformats.org/officeDocument/2006/relationships" id="275" r:id="R161bee18740f49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f804a083f749cf" /><Relationship Type="http://schemas.openxmlformats.org/officeDocument/2006/relationships/slideMaster" Target="/ppt/slideMasters/slideMaster1.xml" Id="Ra986e930679b4154" /><Relationship Type="http://schemas.openxmlformats.org/officeDocument/2006/relationships/notesMaster" Target="/ppt/notesMasters/notesMaster1.xml" Id="Rd8dba025f9924e57" /><Relationship Type="http://schemas.openxmlformats.org/officeDocument/2006/relationships/presProps" Target="/ppt/presProps.xml" Id="R2e99f2bdcfbb4508" /><Relationship Type="http://schemas.openxmlformats.org/officeDocument/2006/relationships/viewProps" Target="/ppt/viewProps.xml" Id="R8111728bf3734cd1" /><Relationship Type="http://schemas.openxmlformats.org/officeDocument/2006/relationships/tableStyles" Target="/ppt/tableStyles.xml" Id="R352924bd0f9c4a87" /><Relationship Type="http://schemas.openxmlformats.org/officeDocument/2006/relationships/slide" Target="/ppt/slides/slide1.xml" Id="R3481162eb0f64a9c" /><Relationship Type="http://schemas.openxmlformats.org/officeDocument/2006/relationships/slide" Target="/ppt/slides/slide2.xml" Id="R6a4aad111ee249bf" /><Relationship Type="http://schemas.openxmlformats.org/officeDocument/2006/relationships/slide" Target="/ppt/slides/slide3.xml" Id="Rb55264e91e3940aa" /><Relationship Type="http://schemas.openxmlformats.org/officeDocument/2006/relationships/slide" Target="/ppt/slides/slide4.xml" Id="R536abcf4cce14e8f" /><Relationship Type="http://schemas.openxmlformats.org/officeDocument/2006/relationships/slide" Target="/ppt/slides/slide5.xml" Id="R4cd552fc2ac0476b" /><Relationship Type="http://schemas.openxmlformats.org/officeDocument/2006/relationships/slide" Target="/ppt/slides/slide6.xml" Id="R541c3f0e277946c6" /><Relationship Type="http://schemas.openxmlformats.org/officeDocument/2006/relationships/slide" Target="/ppt/slides/slide7.xml" Id="R3e8657c239f84558" /><Relationship Type="http://schemas.openxmlformats.org/officeDocument/2006/relationships/slide" Target="/ppt/slides/slide8.xml" Id="Re44ed40450e94686" /><Relationship Type="http://schemas.openxmlformats.org/officeDocument/2006/relationships/slide" Target="/ppt/slides/slide9.xml" Id="Re275eb6dd5e147a1" /><Relationship Type="http://schemas.openxmlformats.org/officeDocument/2006/relationships/slide" Target="/ppt/slides/slide10.xml" Id="R17410db543b94808" /><Relationship Type="http://schemas.openxmlformats.org/officeDocument/2006/relationships/slide" Target="/ppt/slides/slide11.xml" Id="R49aec4bbfb524e59" /><Relationship Type="http://schemas.openxmlformats.org/officeDocument/2006/relationships/slide" Target="/ppt/slides/slide12.xml" Id="Rdded9710db06417d" /><Relationship Type="http://schemas.openxmlformats.org/officeDocument/2006/relationships/slide" Target="/ppt/slides/slide13.xml" Id="R232c26a39cfa4eb0" /><Relationship Type="http://schemas.openxmlformats.org/officeDocument/2006/relationships/slide" Target="/ppt/slides/slide14.xml" Id="Rb27016edba1a4a93" /><Relationship Type="http://schemas.openxmlformats.org/officeDocument/2006/relationships/slide" Target="/ppt/slides/slide15.xml" Id="R2f1d8baeca9e4abd" /><Relationship Type="http://schemas.openxmlformats.org/officeDocument/2006/relationships/slide" Target="/ppt/slides/slide16.xml" Id="Rd4bc011c120c4e4d" /><Relationship Type="http://schemas.openxmlformats.org/officeDocument/2006/relationships/slide" Target="/ppt/slides/slide17.xml" Id="Rce2d43eda9c24f11" /><Relationship Type="http://schemas.openxmlformats.org/officeDocument/2006/relationships/slide" Target="/ppt/slides/slide18.xml" Id="R42b9b28c3fcf4173" /><Relationship Type="http://schemas.openxmlformats.org/officeDocument/2006/relationships/slide" Target="/ppt/slides/slide19.xml" Id="R1db32bd1985f44b7" /><Relationship Type="http://schemas.openxmlformats.org/officeDocument/2006/relationships/slide" Target="/ppt/slides/slide20.xml" Id="R161bee18740f49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94ad9f792a46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429e9e2c354646" /><Relationship Type="http://schemas.openxmlformats.org/officeDocument/2006/relationships/notesMaster" Target="/ppt/notesMasters/notesMaster1.xml" Id="R31dcd38d77e244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7afcd759754339" /><Relationship Type="http://schemas.openxmlformats.org/officeDocument/2006/relationships/notesMaster" Target="/ppt/notesMasters/notesMaster1.xml" Id="R293d976526cc47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a61843c2ad48f0" /><Relationship Type="http://schemas.openxmlformats.org/officeDocument/2006/relationships/notesMaster" Target="/ppt/notesMasters/notesMaster1.xml" Id="Rabde921c452b47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ca4463e1cc443b" /><Relationship Type="http://schemas.openxmlformats.org/officeDocument/2006/relationships/notesMaster" Target="/ppt/notesMasters/notesMaster1.xml" Id="Rd8765677621e44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0a2a42de6a4a3a" /><Relationship Type="http://schemas.openxmlformats.org/officeDocument/2006/relationships/notesMaster" Target="/ppt/notesMasters/notesMaster1.xml" Id="Re2ed03b5d7fd4d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b9758d2cd4f7e" /><Relationship Type="http://schemas.openxmlformats.org/officeDocument/2006/relationships/notesMaster" Target="/ppt/notesMasters/notesMaster1.xml" Id="Re7b45417dc2a49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970585294743a9" /><Relationship Type="http://schemas.openxmlformats.org/officeDocument/2006/relationships/notesMaster" Target="/ppt/notesMasters/notesMaster1.xml" Id="R2dc08e686cfa4e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18de58a0dd4055" /><Relationship Type="http://schemas.openxmlformats.org/officeDocument/2006/relationships/notesMaster" Target="/ppt/notesMasters/notesMaster1.xml" Id="R4c11fe239f1942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bebba62b204beb" /><Relationship Type="http://schemas.openxmlformats.org/officeDocument/2006/relationships/notesMaster" Target="/ppt/notesMasters/notesMaster1.xml" Id="Rc65ffa5e8f0b43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0afe7c8f8f4870" /><Relationship Type="http://schemas.openxmlformats.org/officeDocument/2006/relationships/notesMaster" Target="/ppt/notesMasters/notesMaster1.xml" Id="R662ebc12a6c84d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6a6b6d59fe4f57" /><Relationship Type="http://schemas.openxmlformats.org/officeDocument/2006/relationships/notesMaster" Target="/ppt/notesMasters/notesMaster1.xml" Id="Rd3b06a09a8b041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9d4970cf604ce9" /><Relationship Type="http://schemas.openxmlformats.org/officeDocument/2006/relationships/notesMaster" Target="/ppt/notesMasters/notesMaster1.xml" Id="R6a259551c7e24b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77557f5b2a4516" /><Relationship Type="http://schemas.openxmlformats.org/officeDocument/2006/relationships/notesMaster" Target="/ppt/notesMasters/notesMaster1.xml" Id="R721550c76c4a4d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fdb1c1024a43ee" /><Relationship Type="http://schemas.openxmlformats.org/officeDocument/2006/relationships/notesMaster" Target="/ppt/notesMasters/notesMaster1.xml" Id="Ra12bc05d2d584f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2477e482694609" /><Relationship Type="http://schemas.openxmlformats.org/officeDocument/2006/relationships/notesMaster" Target="/ppt/notesMasters/notesMaster1.xml" Id="Rcbd2f1d110fd48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01e190f0c74c68" /><Relationship Type="http://schemas.openxmlformats.org/officeDocument/2006/relationships/notesMaster" Target="/ppt/notesMasters/notesMaster1.xml" Id="Rd8c6c63b89b84e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4b2b1bc84b45d8" /><Relationship Type="http://schemas.openxmlformats.org/officeDocument/2006/relationships/notesMaster" Target="/ppt/notesMasters/notesMaster1.xml" Id="R09a3e2d30a414c7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8467fa2780413b" /><Relationship Type="http://schemas.openxmlformats.org/officeDocument/2006/relationships/notesMaster" Target="/ppt/notesMasters/notesMaster1.xml" Id="Re7725daf349a4e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4ec4f645e77472f" /><Relationship Type="http://schemas.openxmlformats.org/officeDocument/2006/relationships/notesMaster" Target="/ppt/notesMasters/notesMaster1.xml" Id="R88bfb3046db2493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56a8df3ca64e45" /><Relationship Type="http://schemas.openxmlformats.org/officeDocument/2006/relationships/notesMaster" Target="/ppt/notesMasters/notesMaster1.xml" Id="Ra88cf26716d044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1038f4eec4fd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4301eea1464126" /><Relationship Type="http://schemas.openxmlformats.org/officeDocument/2006/relationships/slideLayout" Target="/ppt/slideLayouts/slideLayout1.xml" Id="Rb7483dfa938649d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483dfa938649d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affeb380643ce" /><Relationship Type="http://schemas.openxmlformats.org/officeDocument/2006/relationships/image" Target="/ppt/media/image.png" Id="R8a79ff52fdb344e6" /><Relationship Type="http://schemas.openxmlformats.org/officeDocument/2006/relationships/notesSlide" Target="/ppt/notesSlides/notesSlide1.xml" Id="R1aac828aeac94d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384bb9db54eba" /><Relationship Type="http://schemas.openxmlformats.org/officeDocument/2006/relationships/notesSlide" Target="/ppt/notesSlides/notesSlide2.xml" Id="Rf8ebcaab3a3d47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66a348da8413f" /><Relationship Type="http://schemas.openxmlformats.org/officeDocument/2006/relationships/notesSlide" Target="/ppt/notesSlides/notesSlide3.xml" Id="R9d4d2427b79f44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e69a7293c4492" /><Relationship Type="http://schemas.openxmlformats.org/officeDocument/2006/relationships/notesSlide" Target="/ppt/notesSlides/notesSlide4.xml" Id="Rad2b30944aa44b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2d2c8cade40c4" /><Relationship Type="http://schemas.openxmlformats.org/officeDocument/2006/relationships/notesSlide" Target="/ppt/notesSlides/notesSlide5.xml" Id="R5fbe12ea2ac64c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7a33eb14e4957" /><Relationship Type="http://schemas.openxmlformats.org/officeDocument/2006/relationships/notesSlide" Target="/ppt/notesSlides/notesSlide6.xml" Id="Ra9af5489811a48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9b1026b1b4dc4" /><Relationship Type="http://schemas.openxmlformats.org/officeDocument/2006/relationships/notesSlide" Target="/ppt/notesSlides/notesSlide7.xml" Id="R283a267338fc4b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aa3e9650a441f" /><Relationship Type="http://schemas.openxmlformats.org/officeDocument/2006/relationships/notesSlide" Target="/ppt/notesSlides/notesSlide8.xml" Id="Rfb5520ade8a242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f2bb0eb0b4245" /><Relationship Type="http://schemas.openxmlformats.org/officeDocument/2006/relationships/image" Target="/ppt/media/image2.png" Id="Rdb237814d3b64b16" /><Relationship Type="http://schemas.openxmlformats.org/officeDocument/2006/relationships/notesSlide" Target="/ppt/notesSlides/notesSlide9.xml" Id="Rd30fd4013d404e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b7923f24949eb" /><Relationship Type="http://schemas.openxmlformats.org/officeDocument/2006/relationships/notesSlide" Target="/ppt/notesSlides/notesSlide10.xml" Id="R81bedfc1f2bc41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191d9ec514b81" /><Relationship Type="http://schemas.openxmlformats.org/officeDocument/2006/relationships/notesSlide" Target="/ppt/notesSlides/notesSlide11.xml" Id="R00d4d994039946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c753856474a6e" /><Relationship Type="http://schemas.openxmlformats.org/officeDocument/2006/relationships/notesSlide" Target="/ppt/notesSlides/notesSlide12.xml" Id="R2c26b57782bc49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db5536ba04351" /><Relationship Type="http://schemas.openxmlformats.org/officeDocument/2006/relationships/notesSlide" Target="/ppt/notesSlides/notesSlide13.xml" Id="R16e55fa6273043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fa352a58c4871" /><Relationship Type="http://schemas.openxmlformats.org/officeDocument/2006/relationships/notesSlide" Target="/ppt/notesSlides/notesSlide14.xml" Id="Rad15fd4c204f40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5363ce8fa4986" /><Relationship Type="http://schemas.openxmlformats.org/officeDocument/2006/relationships/notesSlide" Target="/ppt/notesSlides/notesSlide15.xml" Id="R8d9988d9db454a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48985462742f7" /><Relationship Type="http://schemas.openxmlformats.org/officeDocument/2006/relationships/notesSlide" Target="/ppt/notesSlides/notesSlide16.xml" Id="Rd1ce488e7a92403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35d056ae04bf4" /><Relationship Type="http://schemas.openxmlformats.org/officeDocument/2006/relationships/notesSlide" Target="/ppt/notesSlides/notesSlide17.xml" Id="R3480c5d9ab4c4a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ddc00606b4c9a" /><Relationship Type="http://schemas.openxmlformats.org/officeDocument/2006/relationships/notesSlide" Target="/ppt/notesSlides/notesSlide18.xml" Id="R0bb63e3562cd4d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707d732fd43d9" /><Relationship Type="http://schemas.openxmlformats.org/officeDocument/2006/relationships/notesSlide" Target="/ppt/notesSlides/notesSlide19.xml" Id="Rbae0491ade30487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ec2ee66584453" /><Relationship Type="http://schemas.openxmlformats.org/officeDocument/2006/relationships/notesSlide" Target="/ppt/notesSlides/notesSlide20.xml" Id="R3cf3367bb8b240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692FDF8-EA3F-446E-A2C3-13FB6591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3200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18E8FF"/>
                </a:solidFill>
              </a:rPr>
              <a:t>NIS | NETWORK INTELLIGENCE SIMULATOR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EB73FFF-D50B-4181-B77A-7FBD355F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31720"/>
            <a:ext cx="4663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NIS macht technische</a:t>
            </a:r>
            <a:endParaRPr sz="2700"/>
          </a:p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Netzwerke prüfbar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6C1D4DD-75A5-4464-850A-A9CEC028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4176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81D3265-D253-4BCC-9C7E-8D2603F2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3632"/>
            <a:ext cx="5943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Ein System, das Kommunikationsnetze beschreibt, berechnet, testet und erklärt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1412D7B-21B0-45A5-B58D-5149B323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4528"/>
            <a:ext cx="6400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9B9CC"/>
                </a:solidFill>
              </a:rPr>
              <a:t>Überblick für Engineering, Entwicklung und Management</a:t>
            </a:r>
            <a:endParaRPr sz="82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AD7C78-46F3-4A0A-8C39-21B091A7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1720"/>
            <a:ext cx="1051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80</a:t>
            </a:r>
            <a:endParaRPr sz="2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73E1829-37FD-482A-98B8-29262100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52344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definierte Prüfungen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6D7C21-08D6-4B89-AC70-FE7E2D3A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1720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D166"/>
                </a:solidFill>
              </a:rPr>
              <a:t>&lt; 1 %</a:t>
            </a:r>
            <a:endParaRPr sz="2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217E13E-0795-437B-97FA-AD0011A1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52344"/>
            <a:ext cx="1280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Restfehlerziel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76CC34-C000-4D0C-9921-3CD295B9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840480"/>
            <a:ext cx="3566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>
              <a:alpha val="92000"/>
            </a:srgbClr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Ein gemeinsamer Datenstand verbindet Modell, Simulation, Testergebnis, Befund und Reparatur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C204C10-4D3F-4B76-B7BE-38C192BB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E829A"/>
                </a:solidFill>
              </a:rPr>
              <a:t>01</a:t>
            </a:r>
            <a:endParaRPr sz="750"/>
          </a:p>
        </p:txBody>
      </p:sp>
      <p:pic>
        <p:nvPicPr>
          <p:cNvPr id="25" name="User image — Build signa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9ff52fdb3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9440" y="1678710"/>
            <a:ext cx="4526280" cy="19095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32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1B5D967-7E9D-4C7E-9C8B-EFE1B163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E162EF6-C9A5-448F-8A74-4A71E4D6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EE04D7-B1D8-4699-A135-B4893B2C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EINLEITUNG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B75690B-8718-456C-BF6D-7EEA86FB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8B18B8F-29D5-4042-87AC-1DE5B998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Was NIS für ein Engineering-Team leistet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CE83368-5AFF-46D0-80EB-79D1CC17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8FCA17-DF89-4F2C-A993-7B60408B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Skills sind ausführbare Arbeitsanweisungen: Sie führen durch Aufgaben, wählen Werkzeuge und sichern den Qualitätsprozess.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B674B8-E8A9-466A-A6AE-DB3F0D5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8E8FF"/>
                </a:solidFill>
              </a:rPr>
              <a:t>Skill-Layer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A484BA-14A1-4E20-B546-AC2C203C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743200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4A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NIS</a:t>
            </a:r>
            <a:endParaRPr sz="2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73C5235-8C79-4919-A09E-13D956F1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4592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TOOL CHECKER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4D3D253-0489-4336-A6C3-341CF2AA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10512"/>
            <a:ext cx="329184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Prüfen &amp; reparieren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nimmt Aufgaben auf, speichert lokal, führt Tests aus und zeigt nur deterministischen Fortschritt.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C942959-7D70-432E-9C43-74130071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4592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BROWSER SKILL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7FDEB37-CA14-43EC-9BEC-AFEBD001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810512"/>
            <a:ext cx="329184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Echte UI-Flows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klickt Wizards, Chat, Trace und Findings – API-Erfolg allein reicht nicht.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D71BBD5-E620-4EB9-BC07-02A505C2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072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ENGINEERING AGENT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785F332-6285-48E2-B908-D7BEFF9C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7180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Planen &amp; ausführen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versteht Ziele, typisiert Inputs, wählt MCP-Tools und validiert Completion.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E8816A9-2F4A-4C31-8F01-5BE9A19B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8072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WIZARD SKILLS</a:t>
            </a:r>
            <a:endParaRPr sz="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EB5D38-6820-4658-8D4D-3902F01C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97180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Geführte Workflows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Projektanlage, Architektur, Signalprüfung, Traceanalyse und Finding-Bewertung.</a:t>
            </a:r>
            <a:endParaRPr sz="10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01A1EE-1972-4B00-88B9-92D90FFC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8736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RULES MANAGER</a:t>
            </a:r>
            <a:endParaRPr sz="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85002C-2DD0-4BAB-8728-C53E63B9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5196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Governance sichern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Markdown-Regeln, Tool-Check-Vermerk, Akzeptanzlogik und Qualitätskriterien.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B4BDCA2-4837-44E6-A3E9-B5EA154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08736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TRACE &amp; FINDING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BC0FA85-F6E0-4C1B-8AB4-087443D4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25196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Ursache bis Repair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Simulationsergebnis, Root Cause, Befund, Reparatur und Regression verknüpfen.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0873955-47A4-463E-BC9F-82A02C00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42432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4F8FF"/>
                </a:solidFill>
              </a:rPr>
              <a:t>Kurz: Skills übersetzen Nutzerziele in reproduzierbare Engineering-Aktionen.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842790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02DD11-EE4B-4063-90DE-08B36FAE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D109042-9E6F-4418-A522-59CC0E7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4B17247-D1A5-4BC2-9D91-B0AF1571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STORYLINE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41A46C1-2B7E-49E5-8B5F-E60760E3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ADE121-6D29-4CAB-9EE5-D8788F1B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Der Ablauf von der Idee bis zum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8BA38DF-91B0-434F-A2DD-9BE449F0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5F15E10-1B06-4912-9FC1-21C15AE5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 Station baut auf demselben Modell und denselben Prüfergebnissen auf.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8473DE-1CF0-423D-9E48-ACAD6374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1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C54B86-0E23-427B-AC49-9241828A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Modellieren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Geräte, Funktionen, Ports, Interfaces, Netze</a:t>
            </a:r>
            <a:endParaRPr sz="10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E0BEFFD-0B67-44AD-850C-F5EB6F0D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01882DD-6280-4803-8C94-BFA9CAE4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2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7DC9878-C861-4EE3-884B-D35ADC0A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Technisch prüfen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Routing, Kapazität, Timing, Validierung</a:t>
            </a:r>
            <a:endParaRPr sz="10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41BAF15-8328-473D-9FBF-5F48C7F0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54D8789-FB40-4274-BE7D-C6C65F8C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3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9CDF88-3BAC-42A3-858F-662DA398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Snapshot, Faults, Reproduzierbarkeit</a:t>
            </a:r>
            <a:endParaRPr sz="10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1437FD4-4E24-4785-88DF-7E67C48B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E8F3F0-8083-4FA6-A052-C072CFDE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4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3561DE9-226C-45C7-B30F-6945C64C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Analysieren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Trace, Root Cause, Findings</a:t>
            </a:r>
            <a:endParaRPr sz="10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30EC2FD-21D7-45D4-9187-2373FCA0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C06A78C-FF5E-4015-B859-05175D55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5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607996A-F089-4863-A0DE-0FF88840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Verbessern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Repair, Re-Test, Regression, Quality Gate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43F3B90-FDBF-42AE-8AD4-FA04F9FD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Kernprinzip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2A0AB5-05E4-4247-AC68-F7E2BC44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6512"/>
            <a:ext cx="5120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5778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NIS ist kein einzelner KI-Chat. Es verbindet Modell, Werkzeuge, Nachweise und Freigaben zu einem kontrollierten Engineering-Prozess.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C5D5D25-70AD-438C-9CC9-2AECE393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0480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Was dadurch konsistent wird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946645C-59F3-4A42-9B2E-3EEE55DA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088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Ablauf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gleiche Begriffe, gleiche Reihenfolge, gleiche Qualitätslogik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7ECCF29-6EDA-4C53-9BB5-BD0E11BA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133088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Modell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Hardware · Funktion · Interface · Nachricht · Signal · Trace</a:t>
            </a:r>
            <a:endParaRPr sz="10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87B16F2-7D26-4C9E-9723-49B1FFD7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5102352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Gate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Finding ist nicht das Ende – erst Repair + Regression schließen ab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14194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67FFC4F-6DFE-4E33-994E-6781CDA0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0F4308E-EB97-4A3A-AD95-B58E0994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99F78FA-208A-439F-8E5A-FE477931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PLATTFORM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DC2287-8231-43BC-82CE-9B54ADDB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1EAE40-F828-46A7-BC96-0589B3B5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Was die Plattform abdeckt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F1BB06F-FC98-4EC6-A48E-0D695CF6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4B6BDD4-6680-4348-9265-6DBD3F66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NIS macht technische Kommunikation berechenbar und die Ergebnisse nachvollziehbar.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261A295-CA6F-48BE-B689-206E4DB4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MODELLIEREN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39DB657-6531-406F-9DAA-8351317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Hardware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Funktionen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Interfaces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Nachrichten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Signale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452AD86-FADC-4A54-A5BA-C802B43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59" y="3072384"/>
            <a:ext cx="24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C9DD006-9256-49F7-8037-7B4D05DA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PRÜFEN</a:t>
            </a:r>
            <a:endParaRPr sz="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468FBE-073A-466E-B4DB-E6307760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Routing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Buslast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Timing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Validation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Preflight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3145B8D-453A-43FF-9604-65B6651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072384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CABB38-8338-4C93-A9D7-DF4A6AE1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SIMULIEREN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AA187B6-C2C0-4355-9FE9-B57AAADE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Snapshot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Golden Run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Fault Run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Trace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Reproduzierbarkeit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3D4BAC-FE1F-4FBC-8D77-9B7EC47C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072384"/>
            <a:ext cx="2103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DB0D21-2F38-4643-B3DB-CAADBE88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ANALYSIEREN</a:t>
            </a:r>
            <a:endParaRPr sz="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C1D2B6-D22F-4F83-AEA4-2F70EA2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2032" tIns="2032" rIns="2032" bIns="203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Trace lesen – Ablauf und Zeitpunkt verstehen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Root Cause – technische Hauptursache finden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Finding – Befund mit Nachweis dokumentieren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Repair – Änderung umsetzen und testen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Regression – keine neuen Fehler einführen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0F735EE-AF23-406A-A9A9-2FA7698C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2624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8FF"/>
                </a:solidFill>
              </a:rPr>
              <a:t>Industrieneutral nutzbar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D14B205-05A8-4AD9-BE7A-14F11EDE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Automotive</a:t>
            </a:r>
            <a:endParaRPr sz="8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ADD5EB7-C592-4967-A762-168901F6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Drohnen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B87D48-11D4-4320-8B26-C5FEBDD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Robotik</a:t>
            </a:r>
            <a:endParaRPr sz="8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ACA2B38-A92A-4826-9A55-7CFEE78E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Gebäude</a:t>
            </a:r>
            <a:endParaRPr sz="8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8BD6E3A-6864-427B-B539-1189C9D9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Industrie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75EAF26-C5D7-47F2-BA8A-9D98DB77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Maritim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07EE781-0F10-42E9-977B-34EFFC43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6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A9B9CC"/>
                </a:solidFill>
              </a:rPr>
              <a:t>Root Cause bedeutet: die technische Hauptursache hinter dem sichtbaren Fehler. Der Trace liefert den zeitlichen Nachweis.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84883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BA61CCE-1E7B-4330-B9C3-F9F692D5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1CEDDED-4CA7-4BB0-BEEE-C32D8877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B9DF5C9-570B-4C15-BA15-02E67F30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ARCHITEKTUR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5303DA-FF42-4FDD-9D42-16273B49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0CCE8A-9EC7-479A-863D-91BA0B1D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Technischer Aufbau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B36C701-8CBD-402F-AB3C-09FC751C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0DAE025-C8CD-4DE3-85EA-B24C14D7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 Schicht hat eine klare Aufgabe und liefert Ergebnisse an die nächste.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61FA615-DB4B-4281-B4EA-BC7EDC3D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476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01</a:t>
            </a:r>
            <a:endParaRPr sz="1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415963E-2116-4B9B-8AF7-881088BC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002536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381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Oberfläche und geführte Schritte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35073B6-92C7-4C76-8A8F-40740D15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39112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E8FF"/>
                </a:solidFill>
              </a:rPr>
              <a:t>Next.js / React</a:t>
            </a:r>
            <a:endParaRPr sz="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AC31686-A7D1-4145-B553-1E0F77C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20824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Projektanlage · Architektur · Signal · Trace · Finding · Chat</a:t>
            </a:r>
            <a:endParaRPr sz="98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01E57F3-CFAD-4E01-B159-4AD63C3F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39286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02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DEFCEEB-8E7C-4F4C-97FD-AAC907B5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30346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510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Planung und ausführbare Regeln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A37E70-3E55-42CB-9929-648301A5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966922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8CF541"/>
                </a:solidFill>
              </a:rPr>
              <a:t>Engineering Agent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28E244F-3B22-4DD2-AFBE-399A8C26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948634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Typing · Planung · Entscheidungen · Resume · Progress</a:t>
            </a:r>
            <a:endParaRPr sz="98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37B480-9641-4BB1-B37B-855B84C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0844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solidFill>
              <a:srgbClr val="FFD166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03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BF666B-934E-430B-8195-5969C52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871904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50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Werkzeuge und Fachlogik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B4B6847-C3EE-48F0-828C-1835415C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908480"/>
            <a:ext cx="1840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D166"/>
                </a:solidFill>
              </a:rPr>
              <a:t>Python / Flask · Docker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5309AE3-E012-49AE-B644-4387AAC3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890192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A9B9CC"/>
                </a:solidFill>
              </a:rPr>
              <a:t>Modell lesen · Mutationen · Routing · Kapazität · Timing · Simulation · Container</a:t>
            </a:r>
            <a:endParaRPr sz="9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1B6FCEA-2D56-4521-96AB-D64072B6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74279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CFF"/>
          </a:solidFill>
          <a:ln xmlns:a="http://schemas.openxmlformats.org/drawingml/2006/main">
            <a:solidFill>
              <a:srgbClr val="B98C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04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96F6518-D265-4A49-AB6A-4EA61C15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765339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Modell und Nachweise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DE56ECD-2EF3-4C97-BB6B-437ACD2D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801915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B98CFF"/>
                </a:solidFill>
              </a:rPr>
              <a:t>PostgreSQL / Trace Store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9E67CE9-A3B6-4083-9DF4-35B7643B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783627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Canonical Model · Snapshots · ToolResult · Audit · Findings</a:t>
            </a:r>
            <a:endParaRPr sz="98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C972AA5-719A-4AC6-BA8D-D1320231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Regel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408ABA5-59CB-42F0-9691-0C542948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586984"/>
            <a:ext cx="9006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4F8FF"/>
                </a:solidFill>
              </a:rPr>
              <a:t>Docker/Compose kapselt die Services. Der Agent orchestriert; Fachlogik und Daten bleiben sauber getrennt.</a:t>
            </a:r>
            <a:endParaRPr sz="1300"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1D0D466-A96C-464A-9A09-56DB9C3B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0176"/>
            <a:ext cx="10652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TECHNOLOGIEHINWEIS  </a:t>
            </a:r>
            <a:r>
              <a:rPr sz="8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Next.js/React bilden die Web-UI; PostgreSQL speichert das NIS-Modell transaktional und verknüpft Objekte über Relationen, rekursive Abfragen und JSONB; Apache AGE ergänzt optional Cypher.</a:t>
            </a:r>
          </a:p>
        </p:txBody>
      </p:sp>
    </p:spTree>
    <p:extLst>
      <p:ext uri="{BB962C8B-B14F-4D97-AF65-F5344CB8AC3E}">
        <p14:creationId xmlns:p14="http://schemas.microsoft.com/office/powerpoint/2010/main" val="19852762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21370A-642B-420C-847A-8EE421E2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D08BC8-77F1-4BA8-9C92-0C1ADD33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KI-STEUERUNG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BAA71D8-F4EF-4F1B-88BA-1A94CB8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280E588-BA78-42A7-9459-CD410C36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28232"/>
            <a:ext cx="11201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B2F4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5EE4A8-D38D-4385-9939-FA0740FB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9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Deterministik, lokale LLMs und Fallback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E8D604C-0AF7-421C-A806-0B06D6D8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0584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5933602-407D-4C2A-A8EE-D1403050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Berechnungen bleiben nachvollziehbar. KI hilft bei Planung, Erklärung und Analyse. Öffentliche Modelle bleiben ein kontrollierter Ausnahmeweg.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FB86074-8CC6-4083-8392-0DE5985C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E524398-C1DF-4A48-9EF8-A2FA8135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A5542EE-5A6D-45CA-92D4-92793C83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85A248B-6661-47E4-ACFB-072DFF29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240279"/>
            <a:ext cx="15087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Deterministik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A97FDBC-B0CF-48B5-B00E-55A40932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Python-Core
Routing · Capacity · Timing
Validation · Preflight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693812C-F62E-4E0C-9252-89A7A22B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5C7928E-8CE8-4BFF-A530-DA4D8E20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FF0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E741103-164D-4B3D-B43D-6281122C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A84E4F0-F5F1-4A2F-B268-9C60DD12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24027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Lokale LLMs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924D85A-0365-40C7-95E0-AB78796B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Ollama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 · Qwen · Llama
Typing · 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Planung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 · 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Fragen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
Root-Cause-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Erklärung</a:t>
            </a:r>
            <a:endParaRPr sz="980" b="0">
              <a:solidFill>
                <a:srgbClr val="A6B2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A6E80F2-3141-434D-9706-84FBF42E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132C8B7-C912-4904-A0F1-05B85406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D1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CC2A3BA-FEFF-49FF-8955-1444EC54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ABD4980-8720-450E-80DF-379DD558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7" y="224027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MCP / Skills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6C929B2-441D-4BFB-8C55-EEE93340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Tool-Auswahl · Rechte
ToolResult · Evidence
Workload Resume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3E59C31-2E37-4C50-919E-53EF023E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3F633E3-34B0-4D28-9450-BF54E5D8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689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3CCA574-0412-4708-8552-AB5A50D2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0CC7C6A-1F86-43A1-82B3-3512C6A6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2240279"/>
            <a:ext cx="15087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Public Fallback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354CEC3-70F6-4909-A25C-6BC0DDE8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nur nach Freigabe
reduzierter Kontext
Audit · Datenschutz</a:t>
            </a:r>
          </a:p>
        </p:txBody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727AC3FE-B0E9-424D-BC48-55DF7731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743200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464A2FBD-2A32-4D81-8BCA-E811648C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743200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7AD2A0F7-8BA7-4A22-ADA6-797C0133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743200"/>
            <a:ext cx="429767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222522D-DF63-48C7-A496-8B03EDED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Entscheidungsregeln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99606382-C3BD-4A76-BD15-3596248A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50791"/>
            <a:ext cx="32461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5F04DF7-6129-4F5D-B776-11FC8290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206240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1 · Fakten berechnen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640FE74D-4190-4DA3-8261-78DE8357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572000"/>
            <a:ext cx="291693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Routing, Encoding, Timing und Validation werden deterministisch geprüft – nicht geraten.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49A78755-DA23-47C8-9D2F-58C7E052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0791"/>
            <a:ext cx="32461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93A5A3D-FBE7-436E-9D01-8F7B4EE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206240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2 · Lokal interpretieren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AAD8AE4-91AA-4224-A2B7-0A2061CE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572000"/>
            <a:ext cx="291693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Lokale Modelle formulieren Hypothesen, Rückfragen und Erklärungen mit Projektkontext.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9940A0AC-2DB4-44A4-855C-FAA9B644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050791"/>
            <a:ext cx="31546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5239FD7-F17C-4C73-8CE7-BA34384B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4206240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3 · Fallback begrenzen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23C5869-DC30-4C3A-B697-7C087894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4572000"/>
            <a:ext cx="282549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Öffentliche Modelle sind nur ein kontrollierter Spezialpfad, nicht die Standardlogik.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5187F3A0-26CC-4976-A606-0A0E4677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32120"/>
            <a:ext cx="594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Regel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D4FD847-3348-4580-8AD3-D07FA6B1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551383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Fachlogik entscheidet. LLMs unterstützen Kontext, Sprache, Planung und Analyse – niemals ungeprüfte Core-Änderungen.</a:t>
            </a:r>
          </a:p>
        </p:txBody>
      </p:sp>
    </p:spTree>
    <p:extLst>
      <p:ext uri="{BB962C8B-B14F-4D97-AF65-F5344CB8AC3E}">
        <p14:creationId xmlns:p14="http://schemas.microsoft.com/office/powerpoint/2010/main" val="52484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46F913-1D4E-4320-B47A-D7DDEDD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942A26-F223-4EB8-9280-6E902429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RECHENLEISTUNG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858A0F5-B188-4AFF-80A4-BBBA8365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2D332D6-E3EB-45BD-B955-7A1D14D3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28232"/>
            <a:ext cx="11201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B2F4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EA6E4B5-7E89-414F-8B13-F1D67167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9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Welche Rechenwege genutzt werden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6531559-67B1-42F5-B088-8F8606E6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0584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28856AA-F00D-403D-8710-AF651026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Feste Prüfungen laufen planbar. Lokale Modelle nutzen GPU-Leistung, falls vorhanden.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ABC27C-154E-4A4C-AB43-D496EEF7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38528"/>
            <a:ext cx="32461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9B5E14-3B6B-44F2-A474-D122325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93976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CPU · Flask / Waitress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DF0D8CF-840F-4DD4-AC14-B6DF85C2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459736"/>
            <a:ext cx="291693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API · MCP · Routing
Capacity · Timing · Validation
Trace Query · DB Zugriff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0762AE1-8BB6-476E-A191-15FC99BC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38528"/>
            <a:ext cx="32461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499EDF8-9C10-49A8-90AC-E6CF6AED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2093976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GPU · CUDA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5F058DF-2CFE-4134-81A9-A940D21F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2459736"/>
            <a:ext cx="291693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lokale LLM-Inferenz
Embeddings · Reranking
Root-Cause-Hilfen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5197842-74C5-4D4E-876C-57258B96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38528"/>
            <a:ext cx="29718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F925678-1FB4-4C08-9223-946DFA25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093976"/>
            <a:ext cx="2642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Public Fallback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9293629-6E86-4FF4-858F-0BAD3937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459736"/>
            <a:ext cx="264261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Policy-Freigabe
reduzierter Kontext
Logging · Audit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808399B4-EAED-409F-A3FF-08772F6F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2560320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EAEB4F08-A7E4-42ED-93B4-E210251D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560320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3DAAB86-4D74-49C4-A5A3-0BC6C13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844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Runtime-Verteilung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227129C-6FCD-41A4-A2A1-18CD6CE7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31920"/>
            <a:ext cx="106527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D30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04E7F6B-5347-49D9-B233-CE53097C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33087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D15C"/>
                </a:solidFill>
                <a:latin typeface="Aptos"/>
                <a:ea typeface="Aptos"/>
                <a:cs typeface="Aptos"/>
              </a:rPr>
              <a:t>Docker / Compose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3EEFFAA-7739-4778-B45F-7B7FD6E6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14800"/>
            <a:ext cx="8138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UI · API/Waitress · Python Worker · Ollama/LLM · PostgreSQL · Trace Store · Queue bleiben getrennte Services.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6729D4B-F05C-497D-87B7-E0C28C49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7200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Queue/Worker puffern lange Jobs. GPU wird für lokale Modelle genutzt; CPU bleibt für deterministische Prüflogik stabil planbar.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C446A05B-72A8-4341-B52D-F1864E0A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21808"/>
            <a:ext cx="324612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9D7DBF1-C5DE-44B7-8332-552D9EF2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477256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Degradation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EC9FB5A-2D38-4CC0-98DC-7CC5E86E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843016"/>
            <a:ext cx="291693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GPU fehlt → CPU-Inference / kleines Modell / kontrollierter Fallback.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12995D69-BF6E-4E5A-930F-EA03C315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321808"/>
            <a:ext cx="324612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7387CEC-3773-4BF5-9880-5CDF8661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5477256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Priorität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2D4EF4D-9450-425F-9D4F-78B978C8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5843016"/>
            <a:ext cx="291693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Routing, Simulation und Validation haben Vorrang vor generativer Erklärung.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BCDE3A99-FAEA-452F-B1A1-B7ADE6D7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321808"/>
            <a:ext cx="2971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263F1E7-BBC8-4721-96F4-52532C03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477256"/>
            <a:ext cx="2642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7E83C28-A9A0-45FD-82F2-DF4C00DC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843016"/>
            <a:ext cx="264261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Keine externen Daten ohne Policy, Reduktion und Audit.</a:t>
            </a:r>
          </a:p>
        </p:txBody>
      </p:sp>
    </p:spTree>
    <p:extLst>
      <p:ext uri="{BB962C8B-B14F-4D97-AF65-F5344CB8AC3E}">
        <p14:creationId xmlns:p14="http://schemas.microsoft.com/office/powerpoint/2010/main" val="15961611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3E1E9C-6956-480D-B48E-9235E91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6CF91AF-10EE-4040-873E-DC7CFA6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4F16DA-B22B-47BA-97B3-C4390CF4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DATENMODELL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67228E-C1AC-4D56-BF1A-26A0635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0768BB-6443-40DB-A957-94DA7A7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462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Ein gemeinsames Modell verbindet alle technischen Objekte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6B921C7-7C7A-4943-B847-7F950F7C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DE543C-6500-40BC-B4A4-5D9296C1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Alle Generatoren, Wizards, MCP-Tools und KI-Kontexte beziehen sich auf dieselbe semantische Struktur.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39D297-0E25-4150-AC03-EBB0B4F1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ECU · Sensor · Aktor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Controller · Gateway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03F3BC-8A57-414E-B380-E3ACF6E5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A68101-A871-452B-B55B-0782207A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Funktion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Aufgabe · Logik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Producer · Consumer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76373AA-CDC5-474A-9747-21377A51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FC3857-FD4F-4722-AD48-A0D93FF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656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Interface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logisch + 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Port · Capability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7CB479-A5E2-4CF7-A357-CC8C28D4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67C1AB8-8BD0-40C2-9300-97B64B36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Nachricht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Transport Unit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CAN-FD · Ethernet · SPS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389463-9092-43AB-9744-A686DDF7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5665DD-159D-43A1-8626-4F4BB29A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physikalisch · Status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Command · Stream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68BAE5B-1E1A-4C04-8C59-B581551B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789B2D9-8AE1-4269-BFCC-9139A88A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Trace/Finding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Event · Ursache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Entscheidung · Repair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B4B03EE-B0BD-4D03-B559-90709A8E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38862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Warum das wichtig ist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CA939A7-DE16-4281-B6AA-D08E069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REUSE before CREATE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bestehende Objekte werden gefunden und wiederverwendet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8150984-DC3A-4B98-A9B9-2BC5C331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31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Traceability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jede Aussage kann auf Modell, ToolResult oder Trace zeigen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56EE06-DA62-436C-94BC-C07FE021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07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Plausibilität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Signalsimulation unterscheidet physikalische Kurven, Status und Commands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AF34828-25A7-4984-8FE5-76E9860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83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B98C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Revision Safety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Planung wird bei Modelländerung stale und muss neu geprüft werden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6345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3E1E9C-6956-480D-B48E-9235E91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6CF91AF-10EE-4040-873E-DC7CFA6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4F16DA-B22B-47BA-97B3-C4390CF4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DATENMODELL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67228E-C1AC-4D56-BF1A-26A0635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0768BB-6443-40DB-A957-94DA7A7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Von der ECU bis zum Signal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6B921C7-7C7A-4943-B847-7F950F7C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DE543C-6500-40BC-B4A4-5D9296C1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Alle Generatoren, Wizards, MCP-Tools und KI-Kontexte beziehen sich auf dieselbe semantische Struktur.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39D297-0E25-4150-AC03-EBB0B4F1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ECU · Sensor · Aktor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Controller · Gateway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03F3BC-8A57-414E-B380-E3ACF6E5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A68101-A871-452B-B55B-0782207A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Funktion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Aufgabe · Logik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Producer · Consumer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76373AA-CDC5-474A-9747-21377A51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FC3857-FD4F-4722-AD48-A0D93FF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656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Interface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logisch + 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Port · Capability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7CB479-A5E2-4CF7-A357-CC8C28D4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67C1AB8-8BD0-40C2-9300-97B64B36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Nachricht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Transport Unit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CAN-FD · Ethernet · SPS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389463-9092-43AB-9744-A686DDF7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5665DD-159D-43A1-8626-4F4BB29A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physikalisch · Status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Command · Stream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68BAE5B-1E1A-4C04-8C59-B581551B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789B2D9-8AE1-4269-BFCC-9139A88A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Trace/Finding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Event · Ursache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Entscheidung · Repair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B4B03EE-B0BD-4D03-B559-90709A8E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38862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Warum das wichtig ist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CA939A7-DE16-4281-B6AA-D08E069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REUSE before CREATE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bestehende Objekte werden gefunden und wiederverwendet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8150984-DC3A-4B98-A9B9-2BC5C331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31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Traceability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jede Aussage kann auf Modell, ToolResult oder Trace zeigen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56EE06-DA62-436C-94BC-C07FE021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07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Plausibilität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Signalsimulation unterscheidet physikalische Kurven, Status und Commands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AF34828-25A7-4984-8FE5-76E9860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83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B98C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Revision Safety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Planung wird bei Modelländerung stale und muss neu geprüft werden</a:t>
            </a:r>
            <a:endParaRPr sz="1000"/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C707A1-8A65-44A3-865B-CC9122EF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258"/>
            <a:ext cx="112014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21"/>
          </a:solidFill>
          <a:ln xmlns:a="http://schemas.openxmlformats.org/drawingml/2006/main" w="0">
            <a:noFill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37814d3b64b16"/>
          <a:stretch xmlns:a="http://schemas.openxmlformats.org/drawingml/2006/main"/>
        </p:blipFill>
        <p:spPr>
          <a:xfrm xmlns:a="http://schemas.openxmlformats.org/drawingml/2006/main">
            <a:off x="915670" y="1381125"/>
            <a:ext cx="6413500" cy="4810125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8AD763-8CC5-4596-800F-B87A65EA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Hierarchie des Modells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1DFF1A-4738-433B-9195-433CB149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23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EBBCD"/>
                </a:solidFill>
                <a:latin typeface="Aptos"/>
                <a:ea typeface="Aptos"/>
                <a:cs typeface="Aptos"/>
              </a:rPr>
              <a:t>Eine ECU bündelt Funktionen.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EBBCD"/>
                </a:solidFill>
                <a:latin typeface="Aptos"/>
                <a:ea typeface="Aptos"/>
                <a:cs typeface="Aptos"/>
              </a:rPr>
              <a:t>Jede Funktion nutzt logische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EBBCD"/>
                </a:solidFill>
                <a:latin typeface="Aptos"/>
                <a:ea typeface="Aptos"/>
                <a:cs typeface="Aptos"/>
              </a:rPr>
              <a:t>Nachrichten transportieren die Signale.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EBBCD"/>
                </a:solidFill>
                <a:latin typeface="Aptos"/>
                <a:ea typeface="Aptos"/>
                <a:cs typeface="Aptos"/>
              </a:rPr>
              <a:t>Wird die zulässige Nutzlast überschritten, entsteht eine neue Nachricht.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931AEE-C4FF-4B2D-B3FE-76A1E3CB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9D3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9D3E3"/>
                </a:solidFill>
                <a:latin typeface="Aptos"/>
                <a:ea typeface="Aptos"/>
                <a:cs typeface="Aptos"/>
              </a:rPr>
              <a:t>Merksatz</a:t>
            </a:r>
          </a:p>
          <a:p xmlns:a="http://schemas.openxmlformats.org/drawingml/2006/main">
            <a:pPr>
              <a:defRPr sz="1350" b="1">
                <a:solidFill>
                  <a:srgbClr val="29D3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9D3E3"/>
                </a:solidFill>
                <a:latin typeface="Aptos"/>
                <a:ea typeface="Aptos"/>
                <a:cs typeface="Aptos"/>
              </a:rPr>
              <a:t>Signale werden in Nachrichten verpackt.</a:t>
            </a:r>
          </a:p>
        </p:txBody>
      </p:sp>
    </p:spTree>
    <p:extLst>
      <p:ext uri="{BB962C8B-B14F-4D97-AF65-F5344CB8AC3E}">
        <p14:creationId xmlns:p14="http://schemas.microsoft.com/office/powerpoint/2010/main" val="126345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C808D1-CD86-495E-8E50-A6F70F64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E95D400-4D4A-45E3-B19A-E53310A2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70B4862-E903-4169-BB5D-8537FC02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WIZARDS &amp; AGENT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E35754-F447-43C4-9A05-E1F4AFFD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62D7946-860E-498F-9037-72DA3A5E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Geführte Schritte und Agent arbeiten zusammen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9E79E3E-571D-43D9-BF4F-040C8D77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EA35BAB-DEB1-4D69-8572-572D8BEA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Ein Wizard ist Einstieg und Struktur. Der Agent liest das Modell, plant, fragt nur bei Entscheidungen und führt aus.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5800FBF-BDE0-448A-9178-86CFF283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Hauptwizard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Projektanlage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Pflicht-Gate 0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31000B0-FAA6-4666-814D-CB1C30A0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1CEA53-BFBC-4767-AF14-82018F20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Fachwizard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Architektur · 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 · Finding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2A001EE-AEDE-44CA-B332-9331BDA5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27CEE8B-7817-400A-8562-2933F424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Agent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Typing · Planung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Decision · Resume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8B9543-3511-46A1-B562-ED075B1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2080CDA-7BAE-4886-8467-37F2BA70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MCP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Read · Mutate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Validate · Simulate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B0534FB-7012-4396-9DA6-03439FB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032944-A0EB-4D55-A52C-54517DD8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Routing · Capacity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Timing · Trace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952FB8F-2E81-4EAB-B5B7-22B5235F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904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EC10B3D-A823-4586-96E0-48C1DF62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Ergebnis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Evidence · 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Repair · Regression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ACBD7F2-F2DB-4427-8035-5A8C1B17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5204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Entscheidungslogik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3F3805D-BCF0-4644-A4CC-1259C95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NICHT FRAGEN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2CEC982-7F7D-4F3D-8B33-158F4049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Deterministische Fakten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freie Ports, vorhandene Netze, Schemas, Kapazitätswerte und aktuelle Modellobjekte selbst prüfen.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160583A-4F65-4238-BF44-9BF6F889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GEZIELT FRAGEN</a:t>
            </a:r>
            <a:endParaRPr sz="7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8211D0-5311-443E-A698-23222F23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Engineering Decision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Direktverbindung vs. Gateway-Pfad, Technologieauswahl oder bewusste Risikoakzeptanz.</a:t>
            </a:r>
            <a:endParaRPr sz="102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5BB6B2D-F894-4E99-B44C-AE49EB0A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9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6B6B"/>
                </a:solidFill>
              </a:rPr>
              <a:t>NICHT STOPPEN</a:t>
            </a:r>
            <a:endParaRPr sz="7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FF68ED4-C077-4AA6-9190-F7778761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9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Completion Contract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erst fertig melden, wenn Routing, Capacity, Timing, Validation und Evidence stimmen.</a:t>
            </a:r>
            <a:endParaRPr sz="102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177DF35-AC71-42C7-B525-361CF61F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09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8FF"/>
                </a:solidFill>
              </a:rPr>
              <a:t>Damit verschwindet die Inkonsistenz „Wizard öffnet nur Tool“: Jeder Wizard muss fachlich wirksam sein.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9565137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A274DF-E9DC-48CC-A088-6FE6C630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D3BC7E-A36A-46F6-96A8-5B313C7A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F4DC23C-AFA0-4845-AAC8-D7212771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SIMULATION &amp; TRACE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EFD02D-CBC9-4B27-8635-345CCC60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5A800AD-B572-455E-AAA2-6298CE18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Simulation zeigt Verhalten, Trace zeigt den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B868F72-EDC9-46E1-89F6-BF1529F5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5AE4BD1-DBD3-4D45-A6D5-8279B992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Der Trace ist nicht nur Log-Ausgabe, sondern Evidence für Root Cause, Finding und Reparatur.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0A1F29B-197D-4FE4-93F8-E3436633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Modellstand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eingefrorener Snapshot</a:t>
            </a:r>
            <a:endParaRPr sz="10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4B69C79-AD40-4344-8CC0-18BEA8A5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1CDE444-6975-46D7-8199-48DCCC8D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Simulation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Golden Run + Fault Run</a:t>
            </a:r>
            <a:endParaRPr sz="10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7105019-93DF-4AC8-A0B7-465C6BF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9F02DC-79C6-4895-AF59-C7255EDD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Universal Trace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Events · Sequenz · Signale</a:t>
            </a:r>
            <a:endParaRPr sz="10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E01D912-7C9F-450C-8DA4-60EEE3C6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24516D-C7CC-4B1C-BF49-CAD05028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Root Cause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Kausalität + Confidence</a:t>
            </a:r>
            <a:endParaRPr sz="10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FAADA46-DA78-4006-85E6-58AF9D6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1A6A064-53FC-4CD1-B643-5DCAA3BB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Finding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Entscheidung + Audit</a:t>
            </a:r>
            <a:endParaRPr sz="102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87B0C42-7F47-496B-9BEB-4D40CB9D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70" y="3520440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Trace-Views bleiben synchron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64795FE-E272-4E79-B153-89C7F5B8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7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Botschaften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Timestamp · Source · Destination · Technology · Payload</a:t>
            </a:r>
            <a:endParaRPr sz="1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BB07271-7464-4224-9D2A-AA96E506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81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Sequenz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Gateway-Hops · Route · Delay · Technology Change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D2051C9-4BAC-4D6D-BCE9-657B8548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85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Signale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Wert · Einheit · Qualität · Statuswechsel · Fault Marker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7E5200F-33D2-4AB8-8C45-C8869EC8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89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6B6B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Finding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Root Cause · Evidence · Risikoentscheidung · Review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AEA41B7-E581-4629-8DAE-93070C47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47488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Beispiel-Fault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8746B80-5EE3-439D-8439-0C6FF9BA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230368"/>
            <a:ext cx="8229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8FF"/>
                </a:solidFill>
              </a:rPr>
              <a:t>Gateway Delay ab 12 s → Queue Growth → Message Delay → Deadline Miss → Finding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242195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7F087B-51BC-430D-832A-C76210CF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5979051-5E42-452A-8572-C82BE04F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7ABBD3D-AEC4-4275-9649-373C9B29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KI &amp; KONTEXT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4CD8E3-5E43-4A4E-906D-C369AA9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A776B4-BD57-467C-B67A-782B0C82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Lokale KI arbeitet mit Projektwissen und Fachlogik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5CCF17-5A9D-4DDA-84D6-35F7DD0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FD8301D-7D6D-433C-AB80-03FE1662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LLM, RAG und MCP bilden gemeinsam einen kontrollierten Kontext – kein blindes Generieren.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A5322FD-3A54-4A6F-9ADB-E078F76F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LOKALES LLM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57DC9FB-5246-4E8B-BF62-72495343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Formulieren &amp; planen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Ollama oder austauschbarer lokaler Dienst; keine fachliche Wahrheit ohne Tools.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B8C3B2-D50F-4FD5-9EC9-5EB305CB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HYBRID RAG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284B95C-B2E3-4D25-B376-37D2B68F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Kontext bündeln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Stichwörter, Vektorähnlichkeit, Metadaten und Modellbeziehungen zusammenführen.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FB1C173-0EA7-4993-852D-1661C382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MCP TOOLS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2621CF3-FD3B-4B2A-8999-29A08640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Fachlogik ausführen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Projekt lesen, Mutationen durchführen, Routing berechnen, Simulation/Trace analysieren.</a:t>
            </a:r>
            <a:endParaRPr sz="10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66BBA6D-B90C-431A-BD73-D38124F7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377440"/>
            <a:ext cx="877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96B8238-EE0A-42C4-B9FD-5534FA95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2377440"/>
            <a:ext cx="877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1CB1E73-3910-4467-B339-0E0052B7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Kontextpriorität</a:t>
            </a:r>
            <a:endParaRPr sz="1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D6E5BB-F62C-4D92-BAC8-85EB0258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1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760B4B4-8EC5-49F4-A9AF-6DBCAF9C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aktueller Projektstand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DBE77E7-AB76-47A5-8920-EA10D0EE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2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D86345D-01F3-44E8-B581-C65849E0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ausgewählte Objekte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BFADAB5-37DA-4666-AE62-3F133C0E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3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621ACD8-2D16-4D83-994E-7435DB1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verknüpfte Modellbeziehungen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E99902B-EC09-4858-8DA6-30C87FF9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4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E12611-3002-4C7B-976D-C2E3DAA2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9B9CC"/>
                </a:solidFill>
              </a:rPr>
              <a:t>Dokumentquellen</a:t>
            </a:r>
            <a:endParaRPr sz="9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B946984-C232-4FBB-A2A6-85612AFF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5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FFE7A0D-0B72-4794-AFA6-26D1B92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9B9CC"/>
                </a:solidFill>
              </a:rPr>
              <a:t>Gesprächsverlauf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97134A6-3319-4610-99AC-43DD3635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Wichtige Einordnung</a:t>
            </a:r>
            <a:endParaRPr sz="8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1C24A3E-E3BC-4DD2-877D-ACF501FE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103327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8FF"/>
                </a:solidFill>
              </a:rPr>
              <a:t>RAG ist kein Nachtrainieren des LLMs. Es ist ein projektbezogener Antwortkontext mit Quellen, Modellzustand und begrenzter Relevanz.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278800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F7FAF44-832C-4CF1-B377-69413F2A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AA101B7-0967-49C5-A773-1778225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3F9D3E-B17E-4313-9470-B10D3668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QUALITÄT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E08D693-EDD3-4CE7-9507-ADC21C20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8B7C81D-16E0-45A1-A3BB-ADA97602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Qualität beginnt beim Finden und endet beim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3436E35-1C65-4337-B804-1BB25153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52203CF-D9ED-4EC2-8B58-E5A053BB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Jeder bestätigte Fehler wird repariert, erneut geprüft und mit einem objektiven Nachweis geschlossen.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1E2C3C-56EF-45DE-892E-0F34F682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FIND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DC703A5-442B-4597-8394-67B35B14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DCD40B0-9334-4EE2-9E45-81C57641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ROOT CAUSE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9FCBB9-9FDA-44AF-83E3-A32AE94A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58E8865-126E-4655-AA86-AD249360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FIX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6816DF7-91B4-4E5B-8EDC-15B09D55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10DD4B1-C962-4FD2-AA49-0BC92AA6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RE-TEST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45A8E33-05DE-4383-9E1B-70957E46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F1F9FA-85E4-4F14-9ADD-7ED27297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REGRESSION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F80E510-147A-4F7B-A063-447E280E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03A7AC0-282A-4A0E-AFF8-7CD2A8D8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 w="13970">
            <a:solidFill>
              <a:srgbClr val="8CF541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7111F"/>
                </a:solidFill>
              </a:rPr>
              <a:t>CLOSE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78AAC8-51A8-4DFF-9EA4-2EFC62CB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546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Quality Gates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2353251-A864-45F6-915D-B44D00DE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100 %</a:t>
            </a:r>
            <a:endParaRPr sz="2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87739AB-BC57-4E4D-B3BE-FF6FB1E0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Pflichtanforderungen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106D29E-D9E0-43EF-87B7-F13DC633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8E8FF"/>
                </a:solidFill>
              </a:rPr>
              <a:t>100 %</a:t>
            </a:r>
            <a:endParaRPr sz="2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B500483-92FB-4F28-A76F-32058DC6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kritische Journeys</a:t>
            </a:r>
            <a:endParaRPr sz="8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3CE0DE6-BE9C-4BE5-9C60-0E1B49C9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6B6B"/>
                </a:solidFill>
              </a:rPr>
              <a:t>0</a:t>
            </a:r>
            <a:endParaRPr sz="2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2B9A748-F478-49B2-9E43-064420A2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P0 / Blocker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3F63FB9-3B92-40AD-880A-48C46E24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D166"/>
                </a:solidFill>
              </a:rPr>
              <a:t>0</a:t>
            </a:r>
            <a:endParaRPr sz="2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EA1C1C3-BC56-47F4-909C-90162A05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Blocking P1</a:t>
            </a:r>
            <a:endParaRPr sz="8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A3C4910-CCF2-41F3-A42F-2C96F020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767328"/>
            <a:ext cx="1600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&lt; 1 %</a:t>
            </a:r>
            <a:endParaRPr sz="2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6C09171-39C0-478B-9458-2F8188FA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87952"/>
            <a:ext cx="160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nichtkritische Restfehler</a:t>
            </a:r>
            <a:endParaRPr sz="8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E77181F-4FF1-40F4-BF46-919BD82C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49240"/>
            <a:ext cx="103327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8FF"/>
                </a:solidFill>
              </a:rPr>
              <a:t>Kritische Journeys sind binär: kaputte Projektanlage, kaputter Agent, falsches Routing oder defekter Trace können nicht durch viele kleine PASS-Werte kompensiert werden.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332770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CCED84-0381-4027-8873-65F12264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4DA86A1-CC91-4A96-AD71-DB9829FC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DBEC671-6B8B-4B48-BDBB-B7C85692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TOOL CHECKER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147986-77D0-49D4-8783-76EF6890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6D0CE7-A863-49A2-8363-7F74EF8A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Der Tool Checker prüft den gesamten Ablauf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EB81BA6-7A9C-453C-BDC8-DD04C774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867B89-FAA8-4DD5-B64D-8E879F3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80 reale Prüfungen decken Fachlogik, Oberfläche, Trace, Wizards und Agent ab.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8F76DE8-E2CD-4AE8-9474-B19CD4AC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8CF541"/>
                </a:solidFill>
              </a:rPr>
              <a:t>S01–S20 A/B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F1A88BA-0B2F-4257-916B-1C453846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40</a:t>
            </a:r>
            <a:endParaRPr sz="2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A2BDB35-0EDA-4C5B-9714-3E2BB548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fachliche Musterprojekte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über Hauptwizard</a:t>
            </a:r>
            <a:endParaRPr sz="93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3EC91A2-4DC3-4B1F-83C0-A4F6F66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8E8FF"/>
                </a:solidFill>
              </a:rPr>
              <a:t>S21–S30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EEC59F-89DB-4E4B-AB1E-CB467152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BC2674A-F253-45F6-990B-40472CDB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Chat · MCP · UI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Integration</a:t>
            </a:r>
            <a:endParaRPr sz="93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D7BCD0-9040-4147-894D-336A0DFF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D166"/>
                </a:solidFill>
              </a:rPr>
              <a:t>S31–S40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A74AE0A-38AE-4281-9BA4-26568468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BE15D9B-7A4C-4AE9-813C-1CD34F9C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Trace Analyse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Simulation Evidence</a:t>
            </a:r>
            <a:endParaRPr sz="93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90F4972-4946-4D5B-931A-72E519D5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98CFF"/>
                </a:solidFill>
              </a:rPr>
              <a:t>S41–S50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8E2CEE1-A8DC-4DE8-982A-35775695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7C7594E-A66F-4171-B94F-D2E37560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Wizard-System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Registry · State · Regression</a:t>
            </a:r>
            <a:endParaRPr sz="93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3EAE4A-BDB5-418C-9F38-21AFF17F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6B6B"/>
                </a:solidFill>
              </a:rPr>
              <a:t>S51–S60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A8D8AD0-BB04-42EA-AE96-F30E7571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BEA4DDD-C32F-4306-9B4E-DAD0E216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Engineering Agent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Reasoning · Planning · Completion</a:t>
            </a:r>
            <a:endParaRPr sz="93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2D4E0E7-6BE4-48BD-A262-8EE4B214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22192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8CF541"/>
                </a:solidFill>
              </a:rPr>
              <a:t>80</a:t>
            </a:r>
            <a:endParaRPr sz="3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176D779-72DF-4399-8C02-B8646296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reale Prüfungen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272B146-6E91-4112-A253-C41913AB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886200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Master-Logik</a:t>
            </a:r>
            <a:endParaRPr sz="8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EB558BF-0A49-4B74-A15C-E33CF42F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187952"/>
            <a:ext cx="8732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4F8FF"/>
                </a:solidFill>
              </a:rPr>
              <a:t>Alle Musterprojekte starten über die echte Neue Projektanlage. Danach laufen alle anwendbaren Wizards, Chat-Agent, MCP, Simulation, Trace und Finding im selben Projektkontext.</a:t>
            </a:r>
            <a:endParaRPr sz="12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8F838D8-5E2C-4BFA-A499-AEB73DA6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166360"/>
            <a:ext cx="42062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Default-Modus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VERIFY_AND_REPAIR – Befund nicht nur melden, sondern beheben und erneut prüfen.</a:t>
            </a:r>
            <a:endParaRPr sz="1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D109FD4-C119-48AA-9448-69789C8D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166360"/>
            <a:ext cx="41605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Progress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Prozentanzeige deterministisch; keine LLM-Aufrufe für reine Visualisierung.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231067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F81C3-E131-4EC1-B046-B682CFED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88083C3-748D-457F-9AF2-1A7274DD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BA0FB9-139B-4093-8B0F-5653E26C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ZUSAMMENFASSUNG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DD88500-0FFF-4F32-91EB-9396B37C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AD000E-DDBB-4862-8B45-CD9A597A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Die wichtigsten Bausteine in einem Überblick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188A736-2D42-464E-B292-30164FD2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D041B80-1A4A-4565-B3B0-5850E0B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Die Plattform verbindet Modell, KI, Simulation und Qualität in einem nachvollziehbaren Ablauf.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7473F3-62A8-4DB8-99A1-591330AE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EIN EINSTIEG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B1B5DE6-9088-4D5A-B3DB-A1BB4241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Hauptwizard zuerst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jede Projektanlage ist Quality Gate 0 und muss real über UI + Core funktionieren.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244C95E-57E5-4B78-B083-18360574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EIN MODELL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B19F3D6-2D69-4575-9196-D9B38F0D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Single Source of Truth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Hardware, Funktionen, Interfaces, Netze, Nachrichten, Signale, Trace und Finding bleiben verknüpft.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5BF4A6-523D-41B9-8A66-DB1A3D41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EINE KI-ROLLE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449C296-6B12-40EA-8BB4-376DDF73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Agent orchestriert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LLM plant und erklärt; MCP/Core liefern Fakten, Berechnung und Mutation.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4CAD260-AF8D-47E3-9585-2C14516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4. EIN QUALITÄTSPROZESS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6EF4162-8736-4F14-8467-A9A8F1B6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Find → Fix → Re-Test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Befunde werden repariert, regressionsgeprüft und erst mit Evidence geschlossen.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F94F56A-3E02-434C-B380-4CAD2AB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6B6B"/>
                </a:solidFill>
              </a:rPr>
              <a:t>5. EIN TESTINVENTAR</a:t>
            </a:r>
            <a:endParaRPr sz="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FFDE158-BF7D-4785-A289-A5AAC358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80 Checks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40 Musterprojekte + Integration + Trace + Wizard + Agent-Systemprüfungen.</a:t>
            </a:r>
            <a:endParaRPr sz="10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5109115-3EF1-4DAE-BDC3-2F92F04A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6. EIN NÄCHSTER SCHRITT</a:t>
            </a:r>
            <a:endParaRPr sz="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B39874B-F2A4-4482-A132-29E392A0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Release Candidate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Canary-Lauf, vollständiger Batch, Dashboard und Abschlussbericht mit Quality Gate.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2293CC5-B40E-459F-A525-09BBAEED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106527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Zielbild: NIS erstellt nicht nur Diagramme – NIS prüft, simuliert, erklärt, repariert und dokumentiert technische Kommunikationsarchitekturen.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057712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583476-6620-4E75-B78C-346CBC19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8F15B3-A74B-4712-A8F3-6489F825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1DBE6C-7BA3-46BF-83F7-A164F6B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AUSBLICK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947B6C-051C-417D-834A-E8635C1B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627C9D8-C80D-400C-9BC0-7A49AA51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Wo NIS eingesetzt werden kann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2502D17-533F-447D-B5E5-64281221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251FB4-6968-44A8-A15C-1DEB8E76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Ein gemeinsames Modell begleitet Entwicklung, Absicherung und Betrieb.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0863563-96CE-4678-8727-7B914266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ENTWICKELN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63165CB-3E38-42FA-AB42-8E2D0068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Architekturen gestalten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Varianten vergleichen und Kommunikationspfade früh festlegen.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9623BA5-7091-4868-A5EF-9960D98D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ABSICHERN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7C6634D-3C7E-4F5F-ABA2-F24017B5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Systeme validieren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Routing, Timing und Fehlerfälle vor dem Einsatz reproduzierbar prüfen.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C9DBB9-CD70-4A92-94FC-9969EDD8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BETREIBEN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BC2552-4348-440B-8337-20F2FEFF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Ursachen verstehen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Traces analysieren, Findings ableiten und Verbesserungen nachweisen.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A3AE8C0-7E1F-49FA-B4F9-461DCC02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Ein Modell verbindet Konzept, Test und Betrieb.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78345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5334B82-8CD4-4C75-B390-4B1E890F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71D5BED-7714-4735-B304-8367BCB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E21035-76BC-4B26-87C6-62010CBD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ZUSAMMENFASSUNG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2A0A036-F9B3-440C-A416-345A7FCE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2B2141-C66C-435E-B724-4B0DC157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Die drei wichtigsten Aussagen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2FF0DA4-7D3E-4250-A47C-51F40D3F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5EC7133-2E75-474A-95E9-C6BDA29E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Drei Prinzipien machen die Plattform verständlich und beherrschbar.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B7071C4-10DE-4B49-B949-1C5DB34E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GEMEINSAMES MODELL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D16986C-9729-4E8C-8552-4BA879A2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Eine Datenbasis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Engineering-Objekte, Zustände und Nachweise bleiben konsistent verknüpft.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C9498D-3AC0-45A3-9B72-7DB2E9DF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KONTROLLIERTE KI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9C70E5-0098-41C3-A51C-A08E83A6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Fakten vor Erklärung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Der Core berechnet; Agent und LLM planen, steuern und erläutern.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882F7A7-07A3-4C83-8353-074CF5B9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GESCHLOSSENE QUALITÄT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CE67427-5B2A-43C1-9898-455FCB11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Vom Finding zum Nachweis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Repair, Re-Test und Regression schließen den Qualitätsprozess.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EA4EECB-10A4-4016-B8A0-9C9BD429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Das Ergebnis: technische Entscheidungen werden schneller und ihre Qualität bleibt nachvollziehbar.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785809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A34048-0411-4186-9DCD-5AC6EB84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298448"/>
            <a:ext cx="6153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18E8FF"/>
                </a:solidFill>
              </a:rPr>
              <a:t>NIS | NETWORK INTELLIGENCE SIMULATOR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A296D6-8B80-46D6-B4F8-482B90E0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74519"/>
            <a:ext cx="944575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Danke.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933C5EE-1216-46D2-8DD7-24078FE2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292608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1B99C87-7393-48F7-B254-E5B89B48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73552"/>
            <a:ext cx="8531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F4F8FF"/>
                </a:solidFill>
              </a:rPr>
              <a:t>Fragen, Diskussion, nächste Schritte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2A88FF9-4DB1-4EF8-A5B1-8D212DB3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49039"/>
            <a:ext cx="8531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A9B9CC"/>
                </a:solidFill>
              </a:rPr>
              <a:t>Engineering trifft KI – kontrolliert, nachvollziehbar und wiederholbar.</a:t>
            </a:r>
            <a:endParaRPr sz="8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235429-FEE0-4ED4-B93C-A7336FD1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4590288"/>
            <a:ext cx="458114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>
              <a:alpha val="92000"/>
            </a:srgbClr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Build signals. Understand systems.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67CCC6F-B799-4A8A-B58D-9A745213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E829A"/>
                </a:solidFill>
              </a:rPr>
              <a:t>18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05135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B9C631-5B16-4941-84E5-22C47AA3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72E838B-9BE4-4E87-88E3-D2B9083A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E166B6-160E-4F95-8082-6D339154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ANHANG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7B8EE3B-2A4B-462E-B5D1-43637472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121C7A7-03AE-4C1B-8392-D6327579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Abkürzungsverzeichnis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19FA449-67C2-4B30-90C4-2D588CF3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5418070-D3A8-4242-A17F-AC0FE6A9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Zentrale Begriffe aus Plattform, KI, Daten, Systemtechnik und Qualität.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33169E-8149-42D9-AC07-03745B10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PLATTFORM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7ADED23-C750-427A-AC89-E8F1219B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NIS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Network Intelligence Simulator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KI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Künstliche Intelligenz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UI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User Interface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API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Application Programming Interface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MCP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Model Context Protocol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BD002F2-17A0-46CC-A2C0-FF9D3AEC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KI &amp; DATEN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E69E820-FCAB-41C9-80B7-A091A483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LLM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Large Language Model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RAG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Retrieval-Augmented Generation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DB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Database / Datenbank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CPU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Central Processing Unit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GPU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Graphics Processing Unit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62F75B3-B9B0-423B-B061-2DEAB7B7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SYSTEM &amp; QUALITÄT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45EF7B1-835B-4799-A194-5999D2F6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CUDA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Compute Unified Device Architecture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ECU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Electronic Control Unit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CAN-FD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Controller Area Network Flexible Data-Rate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SPS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Speicherprogrammierbare Steuerung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P0 / P1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Priorität 0 / Priorität 1</a:t>
            </a:r>
          </a:p>
        </p:txBody>
      </p:sp>
    </p:spTree>
    <p:extLst>
      <p:ext uri="{BB962C8B-B14F-4D97-AF65-F5344CB8AC3E}">
        <p14:creationId xmlns:p14="http://schemas.microsoft.com/office/powerpoint/2010/main" val="10080202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A64CF0-63B6-44BA-A83C-A8BAA2E5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9A4087F-24A9-4D65-9C2B-D79B0425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ED075A3-FBFB-4AE6-A2AB-D6491921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ANHANG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767E71-F557-4B6D-A1EF-23E2AABC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7E76878-148A-4377-918E-E2699611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LLM-Modelle und Ressourcen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F2907CE-AD02-42DC-89D6-A5A7F2D3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571DBE-1526-4FFD-A0D5-2BDA43A7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Qwen und Llama laufen lokal über Ollama; konkrete Tags und Hardware sind vor dem Release zu fixieren.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6365BE1-EF5A-4D1C-9A80-62BD4A19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QWEN 2.5 · 7B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B0B034-2866-4FB4-B309-6A196C60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Referenzprofil · Tag offen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Planung · Fragen · Tool Use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4,7 GB · quantisiert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8 GB VRAM oder 12–16 GB RAM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F1AC83F-48CD-4982-B3EE-DC603E48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LLAMA 3.2 · 3B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4A56EA-508A-435F-AE80-E4A7721B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Kleines Referenzprofil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CPU-Fallback · Zusammenfassung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2,0 GB · Q4_K_M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4–6 GB VRAM oder 8 GB RAM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D09C9BF-B030-42AF-A747-0AD781F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LLAMA 3.1 · 8B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8EF5774-1597-476F-858A-4DF50201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Stärkeres Referenzprofil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Erklärung · Root Cause · Dialog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4,9 GB · Q4_K_M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8–12 GB VRAM oder 16 GB RAM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C6709-DC8F-4E2D-83D9-77B4253E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13832"/>
            <a:ext cx="9966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*Planwerte für lokale Inferenz; Kontextlänge und CPU/GPU-Offload erhöhen den Speicherbedarf. Quellen: Ollama Model Library &amp; Hardware Support (Abruf 21.09.2026).</a:t>
            </a:r>
          </a:p>
        </p:txBody>
      </p:sp>
    </p:spTree>
    <p:extLst>
      <p:ext uri="{BB962C8B-B14F-4D97-AF65-F5344CB8AC3E}">
        <p14:creationId xmlns:p14="http://schemas.microsoft.com/office/powerpoint/2010/main" val="15274677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2026-09-22T16:27:28.5540000Z</dcterms:created>
  <dcterms:modified xsi:type="dcterms:W3CDTF">2026-09-22T16:27:28.5540000Z</dcterms:modified>
</coreProperties>
</file>