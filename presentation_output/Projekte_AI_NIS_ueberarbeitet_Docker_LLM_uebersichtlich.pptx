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6654527b24f26" /><Relationship Type="http://schemas.openxmlformats.org/officeDocument/2006/relationships/extended-properties" Target="/docProps/app.xml" Id="R423dc5c8d1e245bc" /><Relationship Type="http://schemas.openxmlformats.org/officeDocument/2006/relationships/officeDocument" Target="/ppt/presentation.xml" Id="Re584cb2b03d5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ed3d8a73041cb"/>
  </p:sldMasterIdLst>
  <p:notesMasterIdLst>
    <p:notesMasterId xmlns:r="http://schemas.openxmlformats.org/officeDocument/2006/relationships" r:id="R6e91260e35934301"/>
  </p:notesMasterIdLst>
  <p:sldIdLst>
    <p:sldId xmlns:r="http://schemas.openxmlformats.org/officeDocument/2006/relationships" id="256" r:id="R991de2f8d40849c9"/>
    <p:sldId xmlns:r="http://schemas.openxmlformats.org/officeDocument/2006/relationships" id="257" r:id="R4082de8df79d4145"/>
    <p:sldId xmlns:r="http://schemas.openxmlformats.org/officeDocument/2006/relationships" id="258" r:id="Rca8444ef481d4b60"/>
    <p:sldId xmlns:r="http://schemas.openxmlformats.org/officeDocument/2006/relationships" id="259" r:id="Re69baa98c6ed4584"/>
    <p:sldId xmlns:r="http://schemas.openxmlformats.org/officeDocument/2006/relationships" id="260" r:id="R4a9e236d2ca64079"/>
    <p:sldId xmlns:r="http://schemas.openxmlformats.org/officeDocument/2006/relationships" id="261" r:id="Raf784f83700044b6"/>
    <p:sldId xmlns:r="http://schemas.openxmlformats.org/officeDocument/2006/relationships" id="262" r:id="Rc150a0aea45e4b08"/>
    <p:sldId xmlns:r="http://schemas.openxmlformats.org/officeDocument/2006/relationships" id="263" r:id="R82c1d13039b14ce8"/>
    <p:sldId xmlns:r="http://schemas.openxmlformats.org/officeDocument/2006/relationships" id="264" r:id="Rd472db0a41424c35"/>
    <p:sldId xmlns:r="http://schemas.openxmlformats.org/officeDocument/2006/relationships" id="265" r:id="R12b90b9857654ca1"/>
    <p:sldId xmlns:r="http://schemas.openxmlformats.org/officeDocument/2006/relationships" id="266" r:id="R77f9091ef6494c7e"/>
    <p:sldId xmlns:r="http://schemas.openxmlformats.org/officeDocument/2006/relationships" id="267" r:id="Ra972b9bf9c1b48a7"/>
    <p:sldId xmlns:r="http://schemas.openxmlformats.org/officeDocument/2006/relationships" id="268" r:id="R255672f1e4ee429d"/>
    <p:sldId xmlns:r="http://schemas.openxmlformats.org/officeDocument/2006/relationships" id="269" r:id="R5f2a3e43241d427a"/>
    <p:sldId xmlns:r="http://schemas.openxmlformats.org/officeDocument/2006/relationships" id="270" r:id="Rd243107876104363"/>
    <p:sldId xmlns:r="http://schemas.openxmlformats.org/officeDocument/2006/relationships" id="271" r:id="Rd9f34ce2f66644bf"/>
    <p:sldId xmlns:r="http://schemas.openxmlformats.org/officeDocument/2006/relationships" id="272" r:id="R6ca90c3c75b14a0a"/>
    <p:sldId xmlns:r="http://schemas.openxmlformats.org/officeDocument/2006/relationships" id="273" r:id="R18da159a06ab446f"/>
    <p:sldId xmlns:r="http://schemas.openxmlformats.org/officeDocument/2006/relationships" id="274" r:id="R9921de5546b944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e1f7f0bf74674" /><Relationship Type="http://schemas.openxmlformats.org/officeDocument/2006/relationships/slideMaster" Target="/ppt/slideMasters/slideMaster1.xml" Id="Rf26ed3d8a73041cb" /><Relationship Type="http://schemas.openxmlformats.org/officeDocument/2006/relationships/notesMaster" Target="/ppt/notesMasters/notesMaster1.xml" Id="R6e91260e35934301" /><Relationship Type="http://schemas.openxmlformats.org/officeDocument/2006/relationships/presProps" Target="/ppt/presProps.xml" Id="R3e84adade54d4b62" /><Relationship Type="http://schemas.openxmlformats.org/officeDocument/2006/relationships/viewProps" Target="/ppt/viewProps.xml" Id="Rea9b5a94b7894319" /><Relationship Type="http://schemas.openxmlformats.org/officeDocument/2006/relationships/tableStyles" Target="/ppt/tableStyles.xml" Id="R1d6d6caa89ac4c53" /><Relationship Type="http://schemas.openxmlformats.org/officeDocument/2006/relationships/slide" Target="/ppt/slides/slide1.xml" Id="R991de2f8d40849c9" /><Relationship Type="http://schemas.openxmlformats.org/officeDocument/2006/relationships/slide" Target="/ppt/slides/slide2.xml" Id="R4082de8df79d4145" /><Relationship Type="http://schemas.openxmlformats.org/officeDocument/2006/relationships/slide" Target="/ppt/slides/slide3.xml" Id="Rca8444ef481d4b60" /><Relationship Type="http://schemas.openxmlformats.org/officeDocument/2006/relationships/slide" Target="/ppt/slides/slide4.xml" Id="Re69baa98c6ed4584" /><Relationship Type="http://schemas.openxmlformats.org/officeDocument/2006/relationships/slide" Target="/ppt/slides/slide5.xml" Id="R4a9e236d2ca64079" /><Relationship Type="http://schemas.openxmlformats.org/officeDocument/2006/relationships/slide" Target="/ppt/slides/slide6.xml" Id="Raf784f83700044b6" /><Relationship Type="http://schemas.openxmlformats.org/officeDocument/2006/relationships/slide" Target="/ppt/slides/slide7.xml" Id="Rc150a0aea45e4b08" /><Relationship Type="http://schemas.openxmlformats.org/officeDocument/2006/relationships/slide" Target="/ppt/slides/slide8.xml" Id="R82c1d13039b14ce8" /><Relationship Type="http://schemas.openxmlformats.org/officeDocument/2006/relationships/slide" Target="/ppt/slides/slide9.xml" Id="Rd472db0a41424c35" /><Relationship Type="http://schemas.openxmlformats.org/officeDocument/2006/relationships/slide" Target="/ppt/slides/slide10.xml" Id="R12b90b9857654ca1" /><Relationship Type="http://schemas.openxmlformats.org/officeDocument/2006/relationships/slide" Target="/ppt/slides/slide11.xml" Id="R77f9091ef6494c7e" /><Relationship Type="http://schemas.openxmlformats.org/officeDocument/2006/relationships/slide" Target="/ppt/slides/slide12.xml" Id="Ra972b9bf9c1b48a7" /><Relationship Type="http://schemas.openxmlformats.org/officeDocument/2006/relationships/slide" Target="/ppt/slides/slide13.xml" Id="R255672f1e4ee429d" /><Relationship Type="http://schemas.openxmlformats.org/officeDocument/2006/relationships/slide" Target="/ppt/slides/slide14.xml" Id="R5f2a3e43241d427a" /><Relationship Type="http://schemas.openxmlformats.org/officeDocument/2006/relationships/slide" Target="/ppt/slides/slide15.xml" Id="Rd243107876104363" /><Relationship Type="http://schemas.openxmlformats.org/officeDocument/2006/relationships/slide" Target="/ppt/slides/slide16.xml" Id="Rd9f34ce2f66644bf" /><Relationship Type="http://schemas.openxmlformats.org/officeDocument/2006/relationships/slide" Target="/ppt/slides/slide17.xml" Id="R6ca90c3c75b14a0a" /><Relationship Type="http://schemas.openxmlformats.org/officeDocument/2006/relationships/slide" Target="/ppt/slides/slide18.xml" Id="R18da159a06ab446f" /><Relationship Type="http://schemas.openxmlformats.org/officeDocument/2006/relationships/slide" Target="/ppt/slides/slide19.xml" Id="R9921de5546b944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dca45cfdd946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e50d310994ad1" /><Relationship Type="http://schemas.openxmlformats.org/officeDocument/2006/relationships/notesMaster" Target="/ppt/notesMasters/notesMaster1.xml" Id="R61760bd5331146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0b9fd1149e4ba6" /><Relationship Type="http://schemas.openxmlformats.org/officeDocument/2006/relationships/notesMaster" Target="/ppt/notesMasters/notesMaster1.xml" Id="R361490432feb4d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7c70e59a24a68" /><Relationship Type="http://schemas.openxmlformats.org/officeDocument/2006/relationships/notesMaster" Target="/ppt/notesMasters/notesMaster1.xml" Id="Rf608c8d50b8849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ae0b75a4004f80" /><Relationship Type="http://schemas.openxmlformats.org/officeDocument/2006/relationships/notesMaster" Target="/ppt/notesMasters/notesMaster1.xml" Id="Rdf05cce0c0d64a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a41d7cb7a9411e" /><Relationship Type="http://schemas.openxmlformats.org/officeDocument/2006/relationships/notesMaster" Target="/ppt/notesMasters/notesMaster1.xml" Id="Rf32f5926974745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0d4d19153c4bce" /><Relationship Type="http://schemas.openxmlformats.org/officeDocument/2006/relationships/notesMaster" Target="/ppt/notesMasters/notesMaster1.xml" Id="R064c2b8fafe545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d14c9b0e8b4488" /><Relationship Type="http://schemas.openxmlformats.org/officeDocument/2006/relationships/notesMaster" Target="/ppt/notesMasters/notesMaster1.xml" Id="Rbcd7d2e662b845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d33c29489a40d7" /><Relationship Type="http://schemas.openxmlformats.org/officeDocument/2006/relationships/notesMaster" Target="/ppt/notesMasters/notesMaster1.xml" Id="R3e75c03fb6ae4b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873855524c4543" /><Relationship Type="http://schemas.openxmlformats.org/officeDocument/2006/relationships/notesMaster" Target="/ppt/notesMasters/notesMaster1.xml" Id="R42adbbdff10c43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25c071494f43dd" /><Relationship Type="http://schemas.openxmlformats.org/officeDocument/2006/relationships/notesMaster" Target="/ppt/notesMasters/notesMaster1.xml" Id="Recf82b49f09a45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7079c997914f63" /><Relationship Type="http://schemas.openxmlformats.org/officeDocument/2006/relationships/notesMaster" Target="/ppt/notesMasters/notesMaster1.xml" Id="Ra758a08dcb644e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f3631ad22440fc" /><Relationship Type="http://schemas.openxmlformats.org/officeDocument/2006/relationships/notesMaster" Target="/ppt/notesMasters/notesMaster1.xml" Id="R7bb77262276a4f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338fa1ac084ca0" /><Relationship Type="http://schemas.openxmlformats.org/officeDocument/2006/relationships/notesMaster" Target="/ppt/notesMasters/notesMaster1.xml" Id="R77e64f00c31147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e581868f944242" /><Relationship Type="http://schemas.openxmlformats.org/officeDocument/2006/relationships/notesMaster" Target="/ppt/notesMasters/notesMaster1.xml" Id="Re2a00c9e799644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39e0a18be54261" /><Relationship Type="http://schemas.openxmlformats.org/officeDocument/2006/relationships/notesMaster" Target="/ppt/notesMasters/notesMaster1.xml" Id="Rb6cc17240b2140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cc739e99304c2d" /><Relationship Type="http://schemas.openxmlformats.org/officeDocument/2006/relationships/notesMaster" Target="/ppt/notesMasters/notesMaster1.xml" Id="R05fafcc0c6294b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d486224ae54790" /><Relationship Type="http://schemas.openxmlformats.org/officeDocument/2006/relationships/notesMaster" Target="/ppt/notesMasters/notesMaster1.xml" Id="R3d75ee859f5849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894c9a0591d4bf1" /><Relationship Type="http://schemas.openxmlformats.org/officeDocument/2006/relationships/notesMaster" Target="/ppt/notesMasters/notesMaster1.xml" Id="R5d139848452e43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61628542374c2a" /><Relationship Type="http://schemas.openxmlformats.org/officeDocument/2006/relationships/notesMaster" Target="/ppt/notesMasters/notesMaster1.xml" Id="Raef8e04620b44f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9e834667e43c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16c3e8ec6d4963" /><Relationship Type="http://schemas.openxmlformats.org/officeDocument/2006/relationships/slideLayout" Target="/ppt/slideLayouts/slideLayout1.xml" Id="R4794c832ede348d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94c832ede348d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aebe225c84a06" /><Relationship Type="http://schemas.openxmlformats.org/officeDocument/2006/relationships/image" Target="/ppt/media/image.png" Id="Re3aaba65eae74d34" /><Relationship Type="http://schemas.openxmlformats.org/officeDocument/2006/relationships/notesSlide" Target="/ppt/notesSlides/notesSlide1.xml" Id="R78304e826c8648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a24a19db64ad0" /><Relationship Type="http://schemas.openxmlformats.org/officeDocument/2006/relationships/notesSlide" Target="/ppt/notesSlides/notesSlide2.xml" Id="Rb0d72baf94d643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8928b22de42fe" /><Relationship Type="http://schemas.openxmlformats.org/officeDocument/2006/relationships/notesSlide" Target="/ppt/notesSlides/notesSlide3.xml" Id="Re1f23c4859334d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d5b06aa4404c" /><Relationship Type="http://schemas.openxmlformats.org/officeDocument/2006/relationships/notesSlide" Target="/ppt/notesSlides/notesSlide4.xml" Id="R655aea9a87804f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d862cc35c4c4e" /><Relationship Type="http://schemas.openxmlformats.org/officeDocument/2006/relationships/notesSlide" Target="/ppt/notesSlides/notesSlide5.xml" Id="Rb762b20496ee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d366cd896459d" /><Relationship Type="http://schemas.openxmlformats.org/officeDocument/2006/relationships/notesSlide" Target="/ppt/notesSlides/notesSlide6.xml" Id="Ra7db19ea3617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ed34103ee491c" /><Relationship Type="http://schemas.openxmlformats.org/officeDocument/2006/relationships/notesSlide" Target="/ppt/notesSlides/notesSlide7.xml" Id="R7cb3e58ef85f47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3a6456fac4600" /><Relationship Type="http://schemas.openxmlformats.org/officeDocument/2006/relationships/notesSlide" Target="/ppt/notesSlides/notesSlide8.xml" Id="Rab53abad9c7143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c7703c88049aa" /><Relationship Type="http://schemas.openxmlformats.org/officeDocument/2006/relationships/notesSlide" Target="/ppt/notesSlides/notesSlide9.xml" Id="Rd112ccaaf33846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2fdd50bf64a9c" /><Relationship Type="http://schemas.openxmlformats.org/officeDocument/2006/relationships/notesSlide" Target="/ppt/notesSlides/notesSlide10.xml" Id="R3f21605c05ec4e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5d8302292409c" /><Relationship Type="http://schemas.openxmlformats.org/officeDocument/2006/relationships/notesSlide" Target="/ppt/notesSlides/notesSlide11.xml" Id="Re41cfd3e19784b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3d0e3af104a48" /><Relationship Type="http://schemas.openxmlformats.org/officeDocument/2006/relationships/notesSlide" Target="/ppt/notesSlides/notesSlide12.xml" Id="R3ed9a0fc32094a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711f9c5f14541" /><Relationship Type="http://schemas.openxmlformats.org/officeDocument/2006/relationships/notesSlide" Target="/ppt/notesSlides/notesSlide13.xml" Id="Ra182a1765ce045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3705357394c15" /><Relationship Type="http://schemas.openxmlformats.org/officeDocument/2006/relationships/notesSlide" Target="/ppt/notesSlides/notesSlide14.xml" Id="Rf6fefc5797df4f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cfc88d0584ded" /><Relationship Type="http://schemas.openxmlformats.org/officeDocument/2006/relationships/notesSlide" Target="/ppt/notesSlides/notesSlide15.xml" Id="R6d9304eca2064f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6189b8495406c" /><Relationship Type="http://schemas.openxmlformats.org/officeDocument/2006/relationships/notesSlide" Target="/ppt/notesSlides/notesSlide16.xml" Id="R2083db09a91d4c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a5ae9586d4d8f" /><Relationship Type="http://schemas.openxmlformats.org/officeDocument/2006/relationships/notesSlide" Target="/ppt/notesSlides/notesSlide17.xml" Id="R0109284f88eb49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41be8184d45fe" /><Relationship Type="http://schemas.openxmlformats.org/officeDocument/2006/relationships/notesSlide" Target="/ppt/notesSlides/notesSlide18.xml" Id="Rb1a5b8e264d941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f12c94b6147a8" /><Relationship Type="http://schemas.openxmlformats.org/officeDocument/2006/relationships/notesSlide" Target="/ppt/notesSlides/notesSlide19.xml" Id="Rb3b38e88addb42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BC0E8E-ED68-43D6-B987-C0257B6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3200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3F530D-3CC6-4AEE-AF88-B1B0EA48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31720"/>
            <a:ext cx="4663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NIS – Engineering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trifft KI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77E713-80FC-4F7E-AF24-C7929DBD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4176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70D60B-3790-49A7-B93D-76BA2CB4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3632"/>
            <a:ext cx="5943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Ein System, das Kommunikationsnetze beschreibt, berechnet, testet und erklärt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7B47D0-2B96-4F4B-AFF2-E8A898EF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6400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9B9CC"/>
                </a:solidFill>
              </a:rPr>
              <a:t>Überblick für Engineering, Entwicklung und Management</a:t>
            </a:r>
            <a:endParaRPr sz="8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2E0925-BA9E-466E-B6D4-B8EA91A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1720"/>
            <a:ext cx="1051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80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C62DC2-BDF4-4023-BA42-97FDD59C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344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definierte Prüfungen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7BBB48-8D6F-46C8-9F6D-DA8ED8DC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172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&lt; 1 %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FAB602C-F5C1-4ABF-9DB8-B2754152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52344"/>
            <a:ext cx="1280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Restfehlerziel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CFAEF-203F-40B6-80E6-74FDA3A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40480"/>
            <a:ext cx="3566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Ein gemeinsamer Datenstand verbindet Modell, Simulation, Testergebnis, Befund und Reparatur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61D5687-3D80-4366-AB7C-CF8EBD6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01</a:t>
            </a:r>
            <a:endParaRPr sz="750"/>
          </a:p>
        </p:txBody>
      </p:sp>
      <p:pic>
        <p:nvPicPr>
          <p:cNvPr id="25" name="User image — Build sign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aba65eae74d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0" y="1678710"/>
            <a:ext cx="4526280" cy="19095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0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84423C2-30BE-48F4-B554-5571D80F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3280100-1B3F-4540-8F08-9DF2C51E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BDFCD0A-B7FA-4F6E-A04D-7F6D646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EINLEITUNG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6376FD-BD0B-475E-92BD-AAB7E2E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24BCC0-2D53-411B-BC86-8145524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NIS für ein Engineering-Team leistet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1F8040D-51B5-4A7E-AFFC-93582B9B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ED714D7-A3FD-4EF2-9C76-2B0B86DD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Skills sind ausführbare Arbeitsanweisungen: Sie führen durch Aufgaben, wählen Werkzeuge und sichern den Qualitätsprozess.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C774300-69D2-4770-8802-A19F4539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8E8FF"/>
                </a:solidFill>
              </a:rPr>
              <a:t>Skill-Layer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D06223-A623-4FCC-A0A4-6A54AA45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7432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4A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NIS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5515804-5AF4-4C62-80C3-C864177E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TOOL CHECKER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82A75D0-8704-416F-B087-0DF4484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Prüfen &amp; reparieren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nimmt Aufgaben auf, speichert lokal, führt Tests aus und zeigt nur deterministischen Fortschritt.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BF6176-FD43-416B-BA69-9E0A2FDC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BROWSER SKILL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8545B75-9E71-404F-A13B-46A89EB7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Echte UI-Flows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klickt Wizards, Chat, Trace und Findings – API-Erfolg allein reicht nicht.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082A45-2319-4B46-8D6C-8F69714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ENGINEERING AGENT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752B2F0-FC76-455D-AEF8-761FD45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Planen &amp;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versteht Ziele, typisiert Inputs, wählt MCP-Tools und validiert Completion.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E1D0C4B-12DE-4E1A-B2DA-568F71B1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WIZARD SKILLS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77E51C-F0DD-4D6F-ADCD-EFAB4F50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Geführte Workflows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Projektanlage, Architektur, Signalprüfung, Traceanalyse und Finding-Bewertung.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F013DDA-16F3-401F-A965-DE8BC682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RULES MANAGER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7624521-5F46-4605-8D83-0800BCA0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Governance sichern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Markdown-Regeln, Tool-Check-Vermerk, Akzeptanzlogik und Qualitätskriterien.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BC6245C-DC89-4CA7-97BF-71A1D792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TRACE &amp; FINDING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92C7C4E-05C1-4CA1-8EA0-826D22C6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Ursache bis Repair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Simulationsergebnis, Root Cause, Befund, Reparatur und Regression verknüpfen.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144ACC2-2C0A-4DF5-B8A7-8C10F508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8FF"/>
                </a:solidFill>
              </a:rPr>
              <a:t>Kurz: Skills übersetzen Nutzerziele in reproduzierbare Engineering-Aktionen.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3659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BDAC23-69C9-4D5D-8DB9-4269A36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BA7D734-CE57-478E-9EB6-F133E487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749A22-E3ED-4A9A-8DC7-4F7F4947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STORYLINE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319B8BB-01B5-4BEF-8BDE-0F48405E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2D84B9-FC54-4FA0-97C2-1CE30EA1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Ablauf von der Idee bis zum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5214699-0A4B-4C8E-8F39-D10B0866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41D8F3-C615-46AE-9F7B-5923F316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Station baut auf demselben Modell und denselben Prüfergebnissen 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3EBA70-39EB-4CDB-A9E3-BFCA1BB7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1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89CAB59-2788-4E2F-BC6D-B5AD83D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Geräte, Funktionen, Ports, Interfaces, Netze</a:t>
            </a:r>
            <a:endParaRPr sz="10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FE651B4-BADF-49C9-85D6-67BDC85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425A6B-58D5-496B-B227-BBA9A5E6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2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659E63-A0A8-46BF-93B6-B4374098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Technisch prüfen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Routing, Kapazität, Timing, Validierung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BAED3DC-6A02-4238-AAD7-67E2D7F5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7C0EA79-2A1C-45C5-80F8-1B6066B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3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3854015-204F-48D1-B241-9680B2CF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Snapshot, Faults, Reproduzierbarkeit</a:t>
            </a:r>
            <a:endParaRPr sz="10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03EF8E0-09D7-4474-84B7-1E191F6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AF0A61A-4A41-4FB7-A27A-CA4E9570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4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55DB457-EF36-41D8-B7B6-62971BBC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Analysieren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Trace, Root Cause, Findings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8CD43DE-8194-4B99-970F-147987E7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BD03A47-493B-4D7E-ABAF-7E026739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5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56B30B1-2B38-4FC1-B4CC-65C45A85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Verbessern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Repair, Re-Test, Regression, Quality Gate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55E16FE-652B-4874-A695-C87C8244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Kernprinzip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98B60DB-2EB4-46D9-BEEE-E221D53C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6512"/>
            <a:ext cx="5120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577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NIS ist kein einzelner KI-Chat. Es verbindet Modell, Werkzeuge, Nachweise und Freigaben zu einem kontrollierten Engineering-Prozess.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4BCAEE9-30D1-406C-85AD-FECC7C40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Was dadurch konsistent wird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29DFDFD-28CA-43B7-8C69-49D66F85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Ablauf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gleiche Begriffe, gleiche Reihenfolge, gleiche Qualitätslogik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4820249-2FCD-4057-8D1E-523C1B59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Modell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Hardware · Funktion · Interface · Nachricht · Signal · Trace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85089BA-517A-47CD-9838-4DFB6FF8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102352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Gate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 ist nicht das Ende – erst Repair + Regression schließen ab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96206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D1B11B-54AF-4EBF-9483-BC30E71F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17D226-CD6B-4C1C-BFE5-075E447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A0EA68-891D-4AF7-A325-8F4709D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PLATTFORM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067B091-4A4F-4B54-AE6B-A7F7F9CE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C919556-DAA9-484B-898C-F4A82168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die Plattform abdeckt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636CFF-978A-4A6F-8CBB-399B6BBE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FCC129C-6F54-4C03-BD2F-FB0AE63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NIS macht technische Kommunikation berechenbar und die Ergebnisse nachvollziehbar.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706B9F-0D32-4BB7-A59F-4F607252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MODELLIEREN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983B2A0-1B4D-4A95-8C13-BD98604F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Hardware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Funktionen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Interfaces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Nachrichten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Signale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6DECDC5-295D-4E62-B576-C747E563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59" y="3072384"/>
            <a:ext cx="24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504990-D609-45EB-98C3-8203FA7A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PRÜFEN</a:t>
            </a:r>
            <a:endParaRPr sz="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ED91E9B-554F-4CDB-A5D3-73291307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Routing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Buslast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Timing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Validation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Preflight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D399B78-151B-446D-ACE0-559584D1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072384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015E05-2EA3-4678-8EC0-FAAA3CC4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SIMULIEREN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7CB4D89-F342-44E6-BB9A-0E596B3D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Snapshot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Golden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Fault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Reproduzierbarkeit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EBDCF61-527B-467D-B228-D0A3FF8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072384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BD4747F-8DB8-4E5D-A2E1-7895E443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ANALYSIEREN</a:t>
            </a:r>
            <a:endParaRPr sz="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E0175C0-7416-41A6-9F2F-27282CE0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Akzeptanz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Repair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F788BDF-794E-42B8-ADE5-9E5638F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8FF"/>
                </a:solidFill>
              </a:rPr>
              <a:t>Industrieneutral nutzbar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5752070-1622-43D0-B59C-8FD8AE1B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Automotive</a:t>
            </a:r>
            <a:endParaRPr sz="8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08747DA-5CA5-42E3-967E-ACBF7FA0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Drohnen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DF0762F-6E75-409C-A74C-1431935F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Robotik</a:t>
            </a:r>
            <a:endParaRPr sz="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D0FB1A3-1FE7-47DC-BA0C-84399363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Gebäude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8B86024-DA99-453E-BF05-EE1AA8A2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Industrie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A06C88-2FFB-4476-8CAE-85A3B025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Maritim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EF32AD1-9C0D-46F2-8E67-19E22D27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6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A9B9CC"/>
                </a:solidFill>
              </a:rPr>
              <a:t>Der technische Kern bleibt gleich: Teilnehmer erzeugen Daten, Netze transportieren sie, Simulation und Trace machen Verhalten prüfbar.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9134833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EB0658-C991-4A0A-AA2C-FB9609C4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F0D328-2AEE-4407-855B-CAB6F80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E90725D-AAE2-46C2-AD95-693AACB9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ARCHITEKTUR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AF0F34-6008-402E-8FD3-6F5928A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8313FB-963D-435D-B462-7DBD68E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Technischer Aufbau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D828644-9896-44F0-8FF0-B33DA0D3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DE974E-820A-4A65-848D-25DCF04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Schicht hat eine klare Aufgabe und liefert Ergebnisse an die nächste.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19F834-B966-4A14-B10F-26951858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47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01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0D0A54-D188-4642-B91E-729866D3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0253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81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Oberfläche und geführte Schritte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AF6AA98-3CD5-49F2-9E85-237B5368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3911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E8FF"/>
                </a:solidFill>
              </a:rPr>
              <a:t>Next.js / React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507B74-F293-460F-B978-F4D336B5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2082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Projektanlage · Architektur · Signal · Trace · Finding · Chat</a:t>
            </a:r>
            <a:endParaRPr sz="9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818754-06C4-4827-9E85-CF3F3B07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3928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02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0024FCE-476A-46EA-9FA6-8B6A24F4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3034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510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Planung und ausführbare Regeln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D6B478E-694B-4F2D-AB11-3E34B222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96692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CF541"/>
                </a:solidFill>
              </a:rPr>
              <a:t>Engineering Agent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A88FCA-4322-4B5D-A71F-BF3F6AC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863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Typing · Planung · Entscheidungen · Resume · Progress</a:t>
            </a:r>
            <a:endParaRPr sz="98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ED40A7-C3F4-4277-86C7-CB8EFF77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0844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solidFill>
              <a:srgbClr val="FFD166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03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E7D6ABB-912C-4E0A-9415-B9E4326B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1904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50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Werkzeuge und Fachlogik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CFFDA4C-9D85-4E1D-A36C-C0C09F75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908480"/>
            <a:ext cx="1840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D166"/>
                </a:solidFill>
              </a:rPr>
              <a:t>Python / Flask · Docker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51451E4-30C9-4EF1-B061-F4D884B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890192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A9B9CC"/>
                </a:solidFill>
              </a:rPr>
              <a:t>Modell lesen · Mutationen · Routing · Kapazität · Timing · Simulation · Container</a:t>
            </a:r>
            <a:endParaRPr sz="9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EE8AE97-8D4B-4917-AFAF-56A0142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4279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CFF"/>
          </a:solidFill>
          <a:ln xmlns:a="http://schemas.openxmlformats.org/drawingml/2006/main">
            <a:solidFill>
              <a:srgbClr val="B98C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04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1FDD373-93AA-4C17-85FF-D26DED17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5339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Modell und Nachweise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FA371E0-582F-4BA5-8210-226A7C90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801915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98CFF"/>
                </a:solidFill>
              </a:rPr>
              <a:t>PostgreSQL / Trace Store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3BE52D4-4258-42BE-9DF6-CB6DEC7C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783627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Canonical Model · Snapshots · ToolResult · Audit · Findings</a:t>
            </a:r>
            <a:endParaRPr sz="98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6F2515C-4A85-4D51-B6E5-4E8FA8F8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Regel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41A1064-7C0C-4D95-9D2B-B8CDD706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586984"/>
            <a:ext cx="9006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4F8FF"/>
                </a:solidFill>
              </a:rPr>
              <a:t>Docker/Compose kapselt die Services. Der Agent orchestriert; Fachlogik und Daten bleiben sauber getrennt.</a:t>
            </a:r>
            <a:endParaRPr sz="1300"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1B993AC-5BA1-403B-8831-C09C89A8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0176"/>
            <a:ext cx="10652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TECHNOLOGIEHINWEIS  </a:t>
            </a:r>
            <a:r>
              <a:rPr sz="8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Next.js/React bilden die Web-UI; PostgreSQL speichert das NIS-Modell transaktional und verknüpft Objekte über Relationen, rekursive Abfragen und JSONB; Apache AGE ergänzt optional Cypher.</a:t>
            </a:r>
          </a:p>
        </p:txBody>
      </p:sp>
    </p:spTree>
    <p:extLst>
      <p:ext uri="{BB962C8B-B14F-4D97-AF65-F5344CB8AC3E}">
        <p14:creationId xmlns:p14="http://schemas.microsoft.com/office/powerpoint/2010/main" val="170414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7F2681-4990-4CBE-9569-C69DDCA3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979B5A9-FB20-4F49-942A-D8286EE0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KI-STEUERUNG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245381-F4BD-4C13-AFEE-C895B2BB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F556844B-1EA5-4EE5-886E-DD27417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F27859-5829-42D1-BCF5-8F07AB4C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Deterministik, lokale LLMs und Fallback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1F650F-32D0-434C-AF48-C4B5A2D6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82FA1E-B6C4-427F-9AA3-44B128D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Berechnungen bleiben nachvollziehbar. KI hilft bei Planung, Erklärung und Analyse. Öffentliche Modelle bleiben ein kontrollierter Ausnahmeweg.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B36E002-20B9-4113-A7BD-9D6FDD9E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E3DA6EC-FE13-44C1-97C6-1A36D29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B470ADF-B2FB-41BE-9C25-C00E1A98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862E135-F276-4ECD-9B5C-28DDF96F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93C0B80-BEB2-45DC-9804-670FBA9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Python-Core
Routing · Capacity · Timing
Validation · Preflight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50233DD-2440-47CA-ADA1-4F7D048B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2F483C0-85AF-4141-B8FE-3E149A2F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F0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55EDF8A-BA58-4B55-8AB0-4C3F9719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BB75EAC-A00B-44BF-A16D-E194BAB7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Lokale LLMs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2B3838-C761-411A-B0FB-D83F0548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Ollama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Qwen · Llama
Typing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Planung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Fragen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
Root-Cause-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Erklärung</a:t>
            </a:r>
            <a:endParaRPr sz="980" b="0">
              <a:solidFill>
                <a:srgbClr val="A6B2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1D6F506-2582-4C49-A9CF-AAE58103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7BFF0C6-B661-4EB6-938A-3B32E9E5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D1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FD7CA2E-3DE3-4538-88DE-0AB7F668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0EAE0D7-C428-43D4-9DB1-C5BF0B46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MCP / Skills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8C5EFD-4585-45DC-B7E6-819A1B34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Tool-Auswahl · Rechte
ToolResult · Evidence
Workload Resume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6E1CCE3-090C-46DD-A944-91648756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FAA258C-7C40-43C9-81E4-FD8E11C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689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17AB3D0-FC75-4D51-8256-4979B81B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C6E4AF6-5451-4FAA-A465-6032F7C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A1F3189-74BC-4ACC-AEDC-94278285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nur nach Freigabe
reduzierter Kontext
Audit · Datenschutz</a:t>
            </a:r>
          </a:p>
        </p:txBody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5A140F8C-B2FF-47D8-8198-8BFE850A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022DBFD0-4CC2-4FE8-8B84-D162937E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4AF85DF-9263-4F68-90D2-472E0B59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743200"/>
            <a:ext cx="429767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84CA176-3D54-495A-B9A8-1975D94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Entscheidungsregeln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022C3742-9509-431F-947A-E8150C40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43359EC-B02E-495E-B0B5-588F5733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206240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1 · Fakten berechnen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01FE25A-B4DD-4D4A-93D3-0186D980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Encoding, Timing und Validation werden deterministisch geprüft – nicht geraten.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AABF4780-CCDC-44C5-9874-714F40B1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35BD73E-0609-4A89-A33F-EE53E8D9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206240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2 · Lokal interpretieren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69C9588-576F-4E7A-AAA9-2C112A6D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Modelle formulieren Hypothesen, Rückfragen und Erklärungen mit Projektkontext.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D5E497AC-436C-4C6B-9375-B665D04B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50791"/>
            <a:ext cx="31546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8E5D4BB-01BC-418B-B6AF-476334CE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206240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3 · Fallback begrenzen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F5D8AE3-A52C-47B5-B6B7-4DAA849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572000"/>
            <a:ext cx="282549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Öffentliche Modelle sind nur ein kontrollierter Spezialpfad, nicht die Standardlogik.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4F3D436-140B-47D5-A973-57BE87A9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Regel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B6C1E3C-58C7-4978-9764-CDC1E9EF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51383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Fachlogik entscheidet. LLMs unterstützen Kontext, Sprache, Planung und Analyse – niemals ungeprüfte Core-Änderungen.</a:t>
            </a:r>
          </a:p>
        </p:txBody>
      </p:sp>
    </p:spTree>
    <p:extLst>
      <p:ext uri="{BB962C8B-B14F-4D97-AF65-F5344CB8AC3E}">
        <p14:creationId xmlns:p14="http://schemas.microsoft.com/office/powerpoint/2010/main" val="1211386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76460-23BC-47A3-8DA5-1A0DC7E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0CD4D6-EF88-4508-B426-98AEF73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RECHENLEISTUNG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4BAAB0-95A9-4255-A5B9-A9D9AC80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843D722-D47B-49C9-92A1-0120052C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BE62714-9A3B-4F78-993F-58D2F317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Welche Rechenwege genutzt werden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96DD703-F032-47DA-9526-D24F94CF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B601EC-257E-48B2-9DA0-B36AC4E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Feste Prüfungen laufen planbar. Lokale Modelle nutzen GPU-Leistung, falls vorhanden.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7B11A81-FB17-41B5-BF63-D34FAA3A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306EA39-F348-4023-9135-0F231FEC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CPU · Flask / Waitress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D2C43EF-03FB-4E5B-ABD2-4C1E1451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API · MCP · Routing
Capacity · Timing · Validation
Trace Query · DB Zugriff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438DA1C-B28F-4141-B086-D5A4DE0F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99F2416-94CA-4014-9AE6-3EDA7D73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09397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GPU · CUDA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32BA60-D194-4139-8D8A-F0FCF910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LLM-Inferenz
Embeddings · Reranking
Root-Cause-Hilfen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83BF446-A2F1-46D3-85E2-E64EA8FF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38528"/>
            <a:ext cx="29718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8357722-7801-4806-83CE-E78830D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9397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DC43765-7EC9-4BE7-A258-816E7075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459736"/>
            <a:ext cx="26426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Policy-Freigabe
reduzierter Kontext
Logging · Audit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49C2D6EB-B4AC-48FC-B3C8-CDBD56A8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864AB5F1-FF4E-43CC-81D2-078B5536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DEC030D-285B-4F94-937B-290D2EBF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84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Runtime-Verteilung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01573EC-1706-4E1A-BCD7-9BE814F8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31920"/>
            <a:ext cx="106527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D30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7E47C6-D4B6-4CDE-80C3-57A6DE78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7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D15C"/>
                </a:solidFill>
                <a:latin typeface="Aptos"/>
                <a:ea typeface="Aptos"/>
                <a:cs typeface="Aptos"/>
              </a:rPr>
              <a:t>Docker / Compose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D58A402-47D8-44E1-A6AE-AA5A32B0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14800"/>
            <a:ext cx="8138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UI · API/Waitress · Python Worker · Ollama/LLM · PostgreSQL · Trace Store · Queue bleiben getrennte Services.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FB77374-3053-43F2-B523-EE2C946A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Queue/Worker puffern lange Jobs. GPU wird für lokale Modelle genutzt; CPU bleibt für deterministische Prüflogik stabil planbar.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F795281-0072-4F2A-A506-460019A4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009479A-FC4B-40C0-A154-2C156EBC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7725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Degradation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9E27F0A-8493-4584-B83C-85727108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GPU fehlt → CPU-Inference / kleines Modell / kontrollierter Fallback.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3E5FE235-6B27-4904-A54E-16E9042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6F0B25C-BD25-4B77-B1AA-C3D7453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47725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Priorität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BCFC444-65B3-4F46-BA65-E7EC01D1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Simulation und Validation haben Vorrang vor generativer Erklärung.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5A6654E9-D84D-42E5-9CBE-0A3590F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321808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74617FD-CDF5-48B5-AC27-CFB9D7ED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47725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42636C3-FBF6-45AB-957A-8C7B2CCE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843016"/>
            <a:ext cx="264261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Keine externen Daten ohne Policy, Reduktion und Audit.</a:t>
            </a:r>
          </a:p>
        </p:txBody>
      </p:sp>
    </p:spTree>
    <p:extLst>
      <p:ext uri="{BB962C8B-B14F-4D97-AF65-F5344CB8AC3E}">
        <p14:creationId xmlns:p14="http://schemas.microsoft.com/office/powerpoint/2010/main" val="1898021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EAD06C-E599-4B99-B134-240E7AD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30303A9-313D-46DC-83DF-9CCE5B25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8D4801-859A-48EF-A06B-9B8F8AC4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EB87E22-CB5B-4FA8-871E-11E41FD2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3E58DB-3CDC-466F-A469-801924FE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462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Ein gemeinsames Modell verbindet alle technischen Objekte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BAA0E9E-E2B3-4C6C-9B6B-72F00C98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0AFB2E-6D30-45B3-A69B-87EFE02D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029BE7-B4AE-4194-A638-637889A3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2F4FC9E-99DF-49EC-B873-1DD83F49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BAA241-AAB6-4009-AA30-9276161A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5853982-E8DF-44D5-9A1F-3E6BAA89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E73FF3-C4D9-401F-B2A9-2260495E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6E12197-81F6-4D32-9CC9-FB0DE1DD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0321339-2230-42B9-8185-FB9F7559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5724A30-C5B8-4132-848C-9E518593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91581A-3E21-4148-8A3D-8B255CA6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6FF7FCE-CBA2-4D97-8F94-C4A1594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7DD6B37-F7FF-4E30-A94C-4565B828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09858AA-CD4C-43C8-9C6C-4D07CEAE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CB81BE1-976A-41FF-8FBF-106C9A5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F352AC6-238C-4234-B127-A2C6F4C3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67FEF09-6972-4712-9C76-A5248C4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111D86-D90E-48F0-B73B-658A23A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74159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32A274-86AA-447B-86E8-26981052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3CD141C-1279-4E58-BB38-F8E8D0D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3AD94C-E2AF-46F6-8913-594E9AD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WIZARDS &amp; AGENT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5E0807-4CD1-4A62-B646-D557E249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BE7460B-9D32-467A-A0CF-5AFFF0DE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Geführte Schritte und Agent arbeiten zusammen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65BF3D-A4A2-4E3F-82B0-80029BB5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BD5693A-41C0-48CD-909F-F637947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Wizard ist Einstieg und Struktur. Der Agent liest das Modell, plant, fragt nur bei Entscheidungen und führt aus.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40BAC17-251B-4EE7-B072-9C9229F0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Hauptwizard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Projektanlage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Pflicht-Gate 0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5255D5D-9969-430B-A426-525553CB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9A2F8AA-EEC2-4DF9-947D-6F8D0851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Fachwizard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Architektur · 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 · Finding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4B66E7-7E2D-4E44-A12F-9DDF2F9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83FD84B-FFB6-4350-B312-FE1AFB75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Agent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Typing · Planung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Decision · Resume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B925340-79E2-4389-9F01-79EDEB7E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B1E9101-3666-428D-B718-B129D7E0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MCP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Read · Mutate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Validate · Simulate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FE413D5-894C-426C-9D18-762B650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30F9C33-6796-40E3-9429-DE7D8791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Routing · Capacity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Timing · Trace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FFD57E1-47E3-4B28-B523-7A54DFD2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6000D0-B0EB-43E8-8480-0E86149C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Ergebnis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Evidence · 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Repair · Regression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60C368F-D661-4366-A868-77DF4B01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520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Entscheidungslogik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0C890C1-6561-4C19-A00A-B89DDC6A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NICHT FRAGEN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A47B58F-8614-4778-B31B-78BB01CA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Deterministische Fakten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freie Ports, vorhandene Netze, Schemas, Kapazitätswerte und aktuelle Modellobjekte selbst prüfen.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09D5298-18DD-4980-8C7A-5CF0C5CD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GEZIELT FRAGEN</a:t>
            </a:r>
            <a:endParaRPr sz="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F6C866C-037B-44CC-BEBF-65DDAF50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Engineering Decision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Direktverbindung vs. Gateway-Pfad, Technologieauswahl oder bewusste Risikoakzeptanz.</a:t>
            </a:r>
            <a:endParaRPr sz="10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F54EF5F-B559-445E-B4D1-FFF32A76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NICHT STOPPEN</a:t>
            </a:r>
            <a:endParaRPr sz="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F07443D-CCCA-49E5-811A-D05BC5E0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Completion Contract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erst fertig melden, wenn Routing, Capacity, Timing, Validation und Evidence stimmen.</a:t>
            </a:r>
            <a:endParaRPr sz="10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34CC12F-9371-47E6-8A99-7B7CD848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09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Damit verschwindet die Inkonsistenz „Wizard öffnet nur Tool“: Jeder Wizard muss fachlich wirksam sein.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370997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FC19C40-1E2F-4D17-9D09-4DBAD4DF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58EC98-5061-46C7-84D5-8F5F4700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58370F-C7E5-4783-8F67-A21F649C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SIMULATION &amp; TRACE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710728-25D4-4EE1-98D0-8E54775B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E5D404-B5FB-4412-8692-A60D5D1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Simulation zeigt Verhalten, Trace zeigt den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8D9FCC-A777-4F7F-B9F5-F7EA754B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F6F69EF-ADFB-4CFF-AB20-3957614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Der Trace ist nicht nur Log-Ausgabe, sondern Evidence für Root Cause, Finding und Reparatur.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B17DDFB-4EFC-4399-92EB-1A4B92B7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Modellstand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eingefrorener Snapshot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A294578-08BE-440D-9BA7-BF97502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856D68-F4E3-4099-B9E4-55C2989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Golden Run + Fault Run</a:t>
            </a:r>
            <a:endParaRPr sz="10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4B09BA2-D31A-49DE-A434-617D6457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ABE32D-9F85-426E-8999-C7862FA2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Universal Trace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Events · Sequenz · Signale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D09AED1-D1BD-459C-A7D6-CA566E07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B71C836-112D-4078-B227-3712AEE6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Root Cause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Kausalität + Confidence</a:t>
            </a:r>
            <a:endParaRPr sz="10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E070322-2040-4CA3-86BE-9829F5E2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ACC43A8-7DB4-49BC-9969-2053B73D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Finding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Entscheidung + Audit</a:t>
            </a:r>
            <a:endParaRPr sz="10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6488177-7145-4555-B14B-25E31BB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520440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Trace-Views bleiben synchron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3E72A1D-470A-4CAE-8173-88B2EF66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Botschaften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Timestamp · Source · Destination · Technology · Payload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ECA9099-00A7-48FD-9121-6E2DB03B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81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Sequenz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Gateway-Hops · Route · Delay · Technology Change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CE3C503-1293-413A-9287-55D1BA61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5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Signale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Wert · Einheit · Qualität · Statuswechsel · Fault Marker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ECD7E37-575F-42BF-A2E4-7CEAB3B5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89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6B6B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Root Cause · Evidence · Risikoentscheidung · Review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FD97200-9A13-4E86-9410-9DCB1AB4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474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Beispiel-Fault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6CFC482-5696-42CC-9AA3-33D6B8E0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230368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Gateway Delay ab 12 s → Queue Growth → Message Delay → Deadline Miss → Finding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02083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F190592-F962-4821-96B5-1DC2D0B8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C1FC44C-79E6-4196-8384-E9389BD4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6EEFE7-FE93-4F5A-87ED-6D965659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KONTEXT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705353-8BFD-4C69-82A1-2BA2A664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968B81E-9D2A-4BAF-BE92-3B804498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Lokale KI arbeitet mit Projektwissen und Fachlogik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4A877DF-5AFE-45F9-A853-F1B0C2E6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74A89DD-C339-4FF4-AACF-B6614B9A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LLM, RAG und MCP bilden gemeinsam einen kontrollierten Kontext – kein blindes Generieren.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1302C1-73EB-420D-AA38-B48880F7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LOKALES LLM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4C6345-5773-4EA8-BC0E-32CB0629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Formulieren &amp; planen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Ollama oder austauschbarer lokaler Dienst; keine fachliche Wahrheit ohne Tools.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1A199B-908B-4CB6-B1D1-F9E88CAD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HYBRID RAG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4C8C3E-50E7-4888-946D-322B017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Kontext bündeln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Stichwörter, Vektorähnlichkeit, Metadaten und Modellbeziehungen zusammenführen.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DA2AED-7FDE-4803-BAAA-1F2CDA9C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MCP TOOLS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4477C9-E08B-41E7-861A-F5C27D6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Fachlogik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 lesen, Mutationen durchführen, Routing berechnen, Simulation/Trace analysieren.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8D01B9D-409E-4008-937B-762A6F4B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09D25E2-7E82-42B9-A05C-ACD6861B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B4D91F1-09D1-469C-B249-DDDC8B62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Kontextpriorität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E1E962-A671-45AE-BCA4-B486BA0B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1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679CA0E-7B42-41A4-AEA6-896ED5F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aktueller Projektstand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69C95F-5109-4246-8E3D-F7B61146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2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CF2C24A-76A3-47A0-A580-F8C01E7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ausgewählte Objekte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FC61E14-DBCA-40A2-8925-44F08DC4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3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C10E-02B7-4C5F-BE0F-91B63B92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verknüpfte Modellbeziehungen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F65A1FA-9BA8-40DE-A29E-E9035712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4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EF2AFB2-2CB2-479F-81FD-31282BDA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Dokumentquellen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0D0DA58-6C11-4611-A8D2-2A022257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5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489B518-8690-4468-B3FA-067D7B0D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Gesprächsverlauf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CC4BE7E-59BB-4DEA-B6F0-ED3E6264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Wichtige Einordnung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2BB1222-52C5-402E-BD5D-EF9EEFB9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3327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RAG ist kein Nachtrainieren des LLMs. Es ist ein projektbezogener Antwortkontext mit Quellen, Modellzustand und begrenzter Relevanz.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200555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DFCD4F0-50CD-4C8F-BFCA-691182E3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17594D0-A650-42EC-A954-A2357BF3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60258E8-EEEB-4180-8C76-AE0C145B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QUALITÄT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A12A78-162D-4DE2-B813-0B4257F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847592-2F34-4599-BA31-A185A1BA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Qualität beginnt beim Finden und endet beim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FC3274-91D2-490C-9A29-D702E634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41F3162-0FF8-4B55-AABA-F54EAAAD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Jeder bestätigte Fehler wird repariert, erneut geprüft und mit einem objektiven Nachweis geschlossen.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505DE57-EEBF-451D-A935-FB47126B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F27EE4-16FB-440F-A945-D05BFCD2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DA826D0-7E3D-438B-BD64-9F13A248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7C337F0-8D1E-47F6-8C4F-2EEC266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4FF5B0-CAEE-4A70-8166-01AE7A4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FIX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252FA0E-FE9B-45F6-B09C-805830A7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C8B47E-52BF-4E5A-AD4C-925AF8E4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RE-TEST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5CE8676-68DB-4AD6-A15B-5518A41C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EEEA24-50DA-4376-9EFB-9B11719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5CAA37A-9760-43E7-870E-3F9D208D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B9035F-7D3B-461C-9A7C-D84B44E6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 w="13970">
            <a:solidFill>
              <a:srgbClr val="8CF541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7111F"/>
                </a:solidFill>
              </a:rPr>
              <a:t>CLOSE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497B919-B0F6-41D6-AA71-1086A2B6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Quality Gates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2267CD-9D43-4683-9E8D-B8387837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100 %</a:t>
            </a:r>
            <a:endParaRPr sz="2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0882E42-85FB-4BFD-AC31-9586DE9A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Pflichtanforderungen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3F544E4-7AA7-420D-8761-269E6D0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8E8FF"/>
                </a:solidFill>
              </a:rPr>
              <a:t>100 %</a:t>
            </a:r>
            <a:endParaRPr sz="2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546DEDF-999D-414C-AC5E-272EDABF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kritische Journeys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DB6052D-1054-41A0-AC36-4D093E10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6B6B"/>
                </a:solidFill>
              </a:rPr>
              <a:t>0</a:t>
            </a:r>
            <a:endParaRPr sz="2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25CA7A9-D7C3-4C54-B00A-6908BC5D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P0 / Blocker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71AEE97-0921-4475-B9B6-B95CAEEC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0</a:t>
            </a:r>
            <a:endParaRPr sz="2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554F108-B0A7-4B1E-8E82-EB211889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Blocking P1</a:t>
            </a:r>
            <a:endParaRPr sz="8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0111DA6-688D-4452-97D7-B3A7A872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767328"/>
            <a:ext cx="1600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&lt; 1 %</a:t>
            </a:r>
            <a:endParaRPr sz="2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98763E5-A12C-49A7-8B31-6E39A8B9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87952"/>
            <a:ext cx="160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nichtkritische Restfehler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9E38C18-FE5E-44EB-8DB5-80234938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10332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Kritische Journeys sind binär: kaputte Projektanlage, kaputter Agent, falsches Routing oder defekter Trace können nicht durch viele kleine PASS-Werte kompensiert werden.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907225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D35C2D-AA3B-4CCA-8B94-7B0A2766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079809-11D5-451F-B7B9-D7A3DBED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C1A33BB-33FC-427B-828B-A6BB18D0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TOOL CHECKER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61F2162-DC79-4494-A007-2271C7A4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200AD1-8B73-42CD-B915-567D7657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Tool Checker prüft den gesamten Ablauf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63B63C3-8A33-4989-BD29-33C214F5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1F62BA8-1F3B-41BD-8F3B-A2B0EB87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80 reale Prüfungen decken Fachlogik, Oberfläche, Trace, Wizards und Agent ab.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63400F-F59B-4F4F-AF08-AD84BC40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CF541"/>
                </a:solidFill>
              </a:rPr>
              <a:t>S01–S20 A/B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6F03BFB-FC55-45AD-9959-9805C9F8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40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96875F-B80B-4DA9-B1C1-D8117C95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fachliche Musterprojekte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über Hauptwizard</a:t>
            </a:r>
            <a:endParaRPr sz="93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C6D36C3-9822-48AC-A7CE-F5A48D1A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8E8FF"/>
                </a:solidFill>
              </a:rPr>
              <a:t>S21–S30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C72777-19B5-4478-BACD-005353C6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B52A12-DB31-403E-BBAA-03E71FFF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Chat · MCP · UI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Integration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641CAA8-2376-43F2-AE18-136C34B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D166"/>
                </a:solidFill>
              </a:rPr>
              <a:t>S31–S40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22AF45-4E5E-461D-B2FE-052FFCA9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5590AB-15DF-48D9-AE85-0A9A6ED9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Trace Analyse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Simulation Evidence</a:t>
            </a:r>
            <a:endParaRPr sz="9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26373A8-32EC-41F4-8EDE-EA95A771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98CFF"/>
                </a:solidFill>
              </a:rPr>
              <a:t>S41–S50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9B2F5C6-D34B-4F31-BCCA-56CED412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88064F0-1D14-418D-8848-36104711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Wizard-System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Registry · State · Regression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015A882-23F6-4B8F-94F5-9D1476F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6B6B"/>
                </a:solidFill>
              </a:rPr>
              <a:t>S51–S60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344597E-EA1B-409D-BC1C-5EBE405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2B681E6-D8D1-4B99-839D-DD159FED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Engineering Agent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Reasoning · Planning · Completion</a:t>
            </a:r>
            <a:endParaRPr sz="93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C8A03F8-3443-4CCB-AF7B-A2DBA524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22192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8CF541"/>
                </a:solidFill>
              </a:rPr>
              <a:t>80</a:t>
            </a:r>
            <a:endParaRPr sz="3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BA8477E-5099-4F52-971D-FA0CAA13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reale Prüfungen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410C9C4-7A35-481A-9F59-E2C8B98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8862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Master-Logik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FA7AB01-C5B6-4913-9F0D-D958B3BD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187952"/>
            <a:ext cx="8732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4F8FF"/>
                </a:solidFill>
              </a:rPr>
              <a:t>Alle Musterprojekte starten über die echte Neue Projektanlage. Danach laufen alle anwendbaren Wizards, Chat-Agent, MCP, Simulation, Trace und Finding im selben Projektkontext.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713D61D-9FE5-4667-9147-622BA2F6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166360"/>
            <a:ext cx="42062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Default-Modus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VERIFY_AND_REPAIR – Befund nicht nur melden, sondern beheben und erneut prüfen.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286AC08-0AE9-4365-A075-FF750D0A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166360"/>
            <a:ext cx="41605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Progress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Prozentanzeige deterministisch; keine LLM-Aufrufe für reine Visualisierung.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981661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22AFA7-3865-4554-84CC-EB82366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B564B1-AAEA-4ADD-BE51-B04A4724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0D225AD-8210-4EF5-BAF0-BC896520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B62C83A-D19A-4459-AC70-FC5E56FF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A30ED4-BABF-4C0E-8E6B-DE93BC19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wichtigsten Bausteine in einem Überblick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5F6341F-9ABE-4DCE-86B2-93AE6A99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C2157C-6A64-4367-9860-A7C3F8B8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Die Plattform verbindet Modell, KI, Simulation und Qualität in einem nachvollziehbaren Ablauf.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056DAAB-F4AE-4013-B42A-DA83C70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EIN EINSTIEG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B960A3D-54B6-43D5-AE77-D70F6442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Hauptwizard zuerst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jede Projektanlage ist Quality Gate 0 und muss real über UI + Core funktionieren.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5FFA8C-5B74-4FE1-838E-1557E28B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EIN MODELL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E2B7EE-8592-407B-92B2-9EB66AF2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Single Source of Truth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Hardware, Funktionen, Interfaces, Netze, Nachrichten, Signale, Trace und Finding bleiben verknüpft.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6F9FB5-60CB-4A57-9385-0F57903D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EINE KI-ROLLE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0C3DFEA-23C7-4F69-87FE-29C4632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Agent orchestriert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LLM plant und erklärt; MCP/Core liefern Fakten, Berechnung und Mutation.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000ACB-9AC5-4F79-9C6F-1920367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4. EIN QUALITÄTSPROZESS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95EF227-50DC-4BFF-85F7-E95A4A2E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 → Fix → Re-Test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Befunde werden repariert, regressionsgeprüft und erst mit Evidence geschlossen.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7E344D-8097-4014-A3D2-AD7D45DF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5. EIN TESTINVENTAR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EA0601E-4831-4489-8FFA-2F2DE9FF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80 Checks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40 Musterprojekte + Integration + Trace + Wizard + Agent-Systemprüfungen.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027766E-4EA2-4F71-8642-AD41A03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6. EIN NÄCHSTER SCHRITT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8D674B6-90F7-4D41-AD29-C992E62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Release Candidate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Canary-Lauf, vollständiger Batch, Dashboard und Abschlussbericht mit Quality Gate.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590CB9D-98DB-4D9B-B2E3-1C9478FD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0652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Zielbild: NIS erstellt nicht nur Diagramme – NIS prüft, simuliert, erklärt, repariert und dokumentiert technische Kommunikationsarchitekturen.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896810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1735A7-F3D0-4722-A24F-3FA99581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77EFD8C-BE80-401D-91FF-93B20432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7875E2-742D-4FD5-961C-AE7807E6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AUSBLICK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8414E6-99BB-42B0-9CCA-2B3FE496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6041E4-0693-4757-AC91-A28F8977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Wo NIS eingesetzt werden kann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7C69448-E480-4F4D-8014-43710125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D8532F-E34E-4547-B10C-6C8F4BE9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gemeinsames Modell begleitet Entwicklung, Absicherung und Betrieb.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9749C8F-DEBE-4A71-AD72-7A12FD30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ENTWICKELN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2EBA0-F390-456F-BA41-CE19AD2A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Architekturen gestalten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Varianten vergleichen und Kommunikationspfade früh festlegen.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B3B86C-9BE0-43D4-8C03-BA0C4881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ABSICHERN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5A1E2C1-24CC-4F6B-AF4D-169B9955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Systeme validieren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Routing, Timing und Fehlerfälle vor dem Einsatz reproduzierbar prüfen.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B6BF2F-E42A-4FA1-A4AB-E971186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BETREIBEN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99C734D-2147-420C-AE21-4FD18F16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Ursachen verstehen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Traces analysieren, Findings ableiten und Verbesserungen nachweisen.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26CC35B-A8A8-485D-9396-12337340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 Modell verbindet Konzept, Test und Betrieb.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09433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8BDF1D-8E56-4284-9982-CCA230E4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07772E6-C2B4-4E36-812E-A5AEA51B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8D0874-586F-4565-9DD8-084D561F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DF14D8-EEAF-4009-B2C3-BC963DE9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7BE7082-C2D4-42FC-B466-102EAC2F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drei wichtigsten Aussagen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389CA0A-07EE-4FF6-BC58-0D14956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C74B57-4EC2-4EB6-849A-4941B5C7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Drei Prinzipien machen die Plattform verständlich und beherrschbar.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28EC71-2DB0-4B18-AB41-2A7962B3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GEMEINSAMES MODELL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BC22509-21C3-422C-BA82-58E6468D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Eine Datenbasis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Engineering-Objekte, Zustände und Nachweise bleiben konsistent verknüpft.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E0AFE1-CDC1-45AD-8144-8FED7B26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KONTROLLIERTE KI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905F07-333B-4D6F-B94D-B8D8CD8B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Fakten vor Erklärung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Der Core berechnet; Agent und LLM planen, steuern und erläutern.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414C43-BE49-440E-8A84-D6D7789E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GESCHLOSSENE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9E4691-F43C-4101-94D1-67C5C253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Vom Finding zum Nachweis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Repair, Re-Test und Regression schließen den Qualitätsprozess.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A9544D9-F9E7-47A9-92E5-AFC5F97B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Das Ergebnis: technische Entscheidungen werden schneller und ihre Qualität bleibt nachvollziehbar.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231180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C3294B5-39C2-4E7D-8923-C7C98D01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98448"/>
            <a:ext cx="6153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26D916-E95D-4D85-B6AC-D9A8D7D2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4519"/>
            <a:ext cx="944575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Danke.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82FEF5-FB1E-49AC-8B2A-65B50070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92608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A17187E-ED61-4159-9FB8-2E4ABBA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73552"/>
            <a:ext cx="8531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4F8FF"/>
                </a:solidFill>
              </a:rPr>
              <a:t>Fragen, Diskussion, nächste Schritte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B9048DB-3682-4353-8A8E-7BC5807C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49039"/>
            <a:ext cx="8531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9CC"/>
                </a:solidFill>
              </a:rPr>
              <a:t>Engineering trifft KI – kontrolliert, nachvollziehbar und wiederholbar.</a:t>
            </a:r>
            <a:endParaRPr sz="8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11056DC-096D-433D-B070-A9580D00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4590288"/>
            <a:ext cx="458114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Build signals. Understand systems.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2F7CEE-0F9D-4471-80CA-6BD35D2C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17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948203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B0DF34-4B19-4097-BB52-DFA1362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96C8FA1-296A-4D3D-A06A-1422E03E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363EB18-1421-479E-AB7E-BA67CB3A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691FAA-0BDA-4FA6-B7F6-BDD28F10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88EB7CD-8BB1-4589-9382-C828E82F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Abkürzungsverzeichnis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780BDD6-3883-4DF1-B39B-0ACE2B88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9E6E1B-0D98-4628-873E-9F6A18C7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Zentrale Begriffe aus Plattform, KI, Daten, Systemtechnik und Qualität.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8705426-E95C-4EE8-9205-4E0E397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PLATTFORM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6909519-AC16-4D79-8DE0-16054C0C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NIS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Network Intelligence Simulator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KI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Künstliche Intelligenz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UI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User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Application Programming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MCP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6DBA86B-AAE4-4434-8C91-A2FB64B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DATEN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641E78-9CBB-4A21-B0C7-7647B48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LLM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Large Language Model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RAG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Retrieval-Augmented Generation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DB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Database / Datenbank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CPU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Central Processing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GPU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Graphics Processing Unit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9769441-B125-41F0-A56A-F0D0BE6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SYSTEM &amp;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9812B37-40D8-4E62-A16F-67B1BCB3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CUDA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Compute Unified Device Architecture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ECU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Electronic Control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CAN-FD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Controller Area Network Flexible Data-Rate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SPS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Speicherprogrammierbare Steuerung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P0 / P1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Priorität 0 / Priorität 1</a:t>
            </a:r>
          </a:p>
        </p:txBody>
      </p:sp>
    </p:spTree>
    <p:extLst>
      <p:ext uri="{BB962C8B-B14F-4D97-AF65-F5344CB8AC3E}">
        <p14:creationId xmlns:p14="http://schemas.microsoft.com/office/powerpoint/2010/main" val="19524528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C29086-B071-447B-A71C-78CEEA0D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F4E636-0FC7-4AA0-90F4-10122B7F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EA1515-17A4-4041-841B-ECD0A64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DEF8BA-3AD0-427F-9062-1D457652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E09BF2-517B-48D9-B233-C4262DD2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LLM-Modelle und Ressourcen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77D3CB4-5633-4001-B943-F40B4398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5EADC2-7234-43E6-B1A9-9CB8D859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Qwen und Llama laufen lokal über Ollama; konkrete Tags und Hardware sind vor dem Release zu fixieren.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29C397E-6A24-4C13-A47B-2A95C2A1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QWEN 2.5 · 7B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895669-08D6-4971-901B-96CAB8D8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Referenzprofil · Tag offen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Planung · Fragen · Tool Use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4,7 GB · quantisiert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 GB VRAM oder 12–16 GB RAM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6A152C2-168C-414C-866A-82B7EA48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LLAMA 3.2 · 3B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732B85-2EB1-4C10-9485-0FB0A698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Kleines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CPU-Fallback · Zusammenfassung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2,0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4–6 GB VRAM oder 8 GB RAM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F7CCEB-3758-444E-AC94-5A55D924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LLAMA 3.1 · 8B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E72038-DB1A-4841-850D-9840A804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Stärkeres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Erklärung · Root Cause · Dialog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4,9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8–12 GB VRAM oder 16 GB RAM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64F9B15-CA98-45B1-94D0-5FAAB5E2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13832"/>
            <a:ext cx="9966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*Planwerte für lokale Inferenz; Kontextlänge und CPU/GPU-Offload erhöhen den Speicherbedarf. Quellen: Ollama Model Library &amp; Hardware Support (Abruf 21.09.2026).</a:t>
            </a:r>
          </a:p>
        </p:txBody>
      </p:sp>
    </p:spTree>
    <p:extLst>
      <p:ext uri="{BB962C8B-B14F-4D97-AF65-F5344CB8AC3E}">
        <p14:creationId xmlns:p14="http://schemas.microsoft.com/office/powerpoint/2010/main" val="11060998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2026-09-22T16:12:04.6380000Z</dcterms:created>
  <dcterms:modified xsi:type="dcterms:W3CDTF">2026-09-22T16:12:04.6380000Z</dcterms:modified>
</coreProperties>
</file>